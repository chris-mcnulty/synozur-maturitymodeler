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3617" r:id="rId2"/>
    <p:sldId id="2147483618" r:id="rId3"/>
    <p:sldId id="2147483619" r:id="rId4"/>
    <p:sldId id="2147483620" r:id="rId5"/>
    <p:sldId id="2147483621" r:id="rId6"/>
    <p:sldId id="2147483622" r:id="rId7"/>
    <p:sldId id="2147483623" r:id="rId8"/>
    <p:sldId id="2147483624" r:id="rId9"/>
    <p:sldId id="2147483625" r:id="rId10"/>
    <p:sldId id="2147483626" r:id="rId11"/>
    <p:sldId id="2147483627" r:id="rId12"/>
    <p:sldId id="2147483628" r:id="rId13"/>
    <p:sldId id="2147483629" r:id="rId14"/>
    <p:sldId id="2147483630" r:id="rId15"/>
    <p:sldId id="2147483631" r:id="rId16"/>
    <p:sldId id="2147483632" r:id="rId17"/>
    <p:sldId id="2147483633" r:id="rId18"/>
    <p:sldId id="2147483634" r:id="rId19"/>
    <p:sldId id="2147483635" r:id="rId20"/>
    <p:sldId id="2147483636" r:id="rId21"/>
    <p:sldId id="2147483637" r:id="rId22"/>
    <p:sldId id="2147483638" r:id="rId23"/>
    <p:sldId id="214748363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34E0AC-D6EC-4343-82F5-DA0E97744921}">
          <p14:sldIdLst>
            <p14:sldId id="2147483617"/>
            <p14:sldId id="2147483618"/>
            <p14:sldId id="2147483619"/>
            <p14:sldId id="2147483620"/>
            <p14:sldId id="2147483621"/>
            <p14:sldId id="2147483622"/>
            <p14:sldId id="2147483623"/>
            <p14:sldId id="2147483624"/>
            <p14:sldId id="2147483625"/>
            <p14:sldId id="2147483626"/>
            <p14:sldId id="2147483627"/>
            <p14:sldId id="2147483628"/>
            <p14:sldId id="2147483629"/>
            <p14:sldId id="2147483630"/>
            <p14:sldId id="2147483631"/>
            <p14:sldId id="2147483632"/>
            <p14:sldId id="2147483633"/>
            <p14:sldId id="2147483634"/>
            <p14:sldId id="2147483635"/>
            <p14:sldId id="2147483636"/>
            <p14:sldId id="2147483637"/>
            <p14:sldId id="2147483638"/>
            <p14:sldId id="2147483639"/>
          </p14:sldIdLst>
        </p14:section>
        <p14:section name="Main How To Section" id="{43A53898-6C12-4788-917D-E1ABA3C43C0F}">
          <p14:sldIdLst/>
        </p14:section>
        <p14:section name="Default Section" id="{754CDF60-7C36-422F-A837-28611821CFD5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EB54-4820-D8D3-5C66-4CB4132D0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258F6-4B0D-3E6E-E0BD-7446DEEB5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E42ED-DB6E-9723-C005-02136C27C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8EA45-1B32-B316-E0A4-9EA7E652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597B1-60A1-5973-6733-0BEAA67E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9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A42E6-9EEB-A061-3CDA-8C9DFF31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C9697-EBB6-09A7-3F87-A941E649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25A19-27A3-EA42-6839-DAF37376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88F2D-8807-BBC5-DCC2-EB86325C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F2317-D2E6-0475-844A-27A0BEF7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2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6726-91BD-A936-D8AF-7686B468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09C8F-428C-00E3-13AA-A2933A740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706F5-A5F4-D4CE-9FF1-8E6031CB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D63AD-09EC-EF71-9A95-21A819F5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DF7F6-3654-9C54-2EB7-6BCC2434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93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A7B66-6C92-1197-3151-1DE626AF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D9C05-973A-5BB9-BC47-5BDC52649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95E88-FDF0-511F-4526-F1B352621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E88CD-72E9-1C13-8A71-3B202466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40C82-1854-532B-8D15-E5C4DE3E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BD0DE-99DC-07C5-3F6D-75BC9DDB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8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7EF70-2779-EF7D-CEB1-879B1AD9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879-0B6E-721F-D2C7-F62740F01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8367F-C766-6EF6-431D-518FA25B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B835E8-9963-89CB-7776-9A951580D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5BD643-405C-8643-4D85-89A34533F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299EA-C6B4-74FF-7043-CB6FB80D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1CB40-12CD-702E-E11D-BA136A7A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3C8D0-AF7F-1ECC-E468-8D83503D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75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11FF-219C-777E-777D-BAC7A39D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6BC7D-45AB-5059-32C2-A75AC1D3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27A7D2-CA2F-7D5A-7871-4D5A36A1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1B3E1-AA9C-2260-BF63-495D34E3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5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9A902-439E-6C82-1633-DA70F123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FA40F-DA71-F09F-943F-647B9A70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5BC8D-00B4-2E68-1F01-BB7E0C88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18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3F94-E9E3-4701-8C0F-212C9E67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CF7E2-97C0-6CAC-EBE0-C2C8E43AF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27B82-013D-750A-9298-59B16E702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6179B-508C-133C-CDB9-AB6FA201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61E38-8405-FDF8-82C2-BFB0F898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D7656-7EA1-2D99-415D-08A3513F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2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E59BE-8620-14B0-C795-4FBBB3D8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B2C9C-9452-8F08-C435-EA2B60E0B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C18A3-7CDF-EA49-A275-AEC79E1AE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9D217-BC3C-8D46-7105-61001D361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0FDD0-C949-3243-C342-3CBF984F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3AE19-28E4-5532-1A59-22E2638C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04CBC-4087-C95D-B4FB-EB190058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F4A35-8016-C73A-B810-0CCA0635F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C0CF5-56D0-C001-8E91-35D97F0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148D4-EA9D-9BD1-ABDF-B59F247F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7CAE3-515C-A5CD-54D3-B32B9BD9D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9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E96AC8-61E2-C31A-0C6C-8FC4CC1AB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2DC5E-ADB9-0587-8444-0EFB5A148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C5858-88A7-5E85-E7AD-B512CA03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D0955-1215-7DDC-C763-4E82B9D8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3C73C-9FCE-E6DB-FBFF-A71A90FB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90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D819-5F83-365E-7584-851A9502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F63DEB-2F79-19DD-8127-CFAC5EB537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411204"/>
            <a:ext cx="10515601" cy="4770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0B1D36-1C6F-CF68-B257-1DF6581829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570" y="6303158"/>
            <a:ext cx="1559489" cy="4873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510705-92AD-88D7-ECB0-40C4C1CA638A}"/>
              </a:ext>
            </a:extLst>
          </p:cNvPr>
          <p:cNvSpPr txBox="1"/>
          <p:nvPr userDrawn="1"/>
        </p:nvSpPr>
        <p:spPr>
          <a:xfrm>
            <a:off x="4038600" y="6364266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© 2026 Synozur. Confidential and proprietary.</a:t>
            </a:r>
          </a:p>
          <a:p>
            <a:pPr algn="ctr"/>
            <a:r>
              <a:rPr lang="en-US" sz="900" dirty="0"/>
              <a:t>Do not copy, share, or distribute without permission.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5A3C70A-29B8-831A-A771-288F648BB340}"/>
              </a:ext>
            </a:extLst>
          </p:cNvPr>
          <p:cNvSpPr txBox="1">
            <a:spLocks/>
          </p:cNvSpPr>
          <p:nvPr userDrawn="1"/>
        </p:nvSpPr>
        <p:spPr>
          <a:xfrm>
            <a:off x="11004115" y="6359011"/>
            <a:ext cx="34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F306AA-F6E4-4A1A-BB85-DA8F934922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96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571500"/>
            <a:ext cx="7366000" cy="2409444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500" y="3429001"/>
            <a:ext cx="11049000" cy="28575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AABD8-25DB-04E8-8ED3-7E573136CE2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A3608E-7027-4380-969D-12C559B60758}" type="datetime1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4A1C2-F2C1-EE8E-D8B8-707B52ECB48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DE44B-9F94-5A62-7D55-ECC96028DA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723368E-EE66-3395-BFB9-D20D196D42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570" y="6303158"/>
            <a:ext cx="1559489" cy="487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79B9C0-1519-AC95-FDE7-30CEA8510101}"/>
              </a:ext>
            </a:extLst>
          </p:cNvPr>
          <p:cNvSpPr txBox="1"/>
          <p:nvPr userDrawn="1"/>
        </p:nvSpPr>
        <p:spPr>
          <a:xfrm>
            <a:off x="4038600" y="6364266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© 2026 Synozur. Confidential and proprietary.</a:t>
            </a:r>
          </a:p>
          <a:p>
            <a:pPr algn="ctr"/>
            <a:r>
              <a:rPr lang="en-US" sz="900" dirty="0"/>
              <a:t>Do not copy, share, or distribute without permission.</a:t>
            </a:r>
          </a:p>
        </p:txBody>
      </p:sp>
    </p:spTree>
    <p:extLst>
      <p:ext uri="{BB962C8B-B14F-4D97-AF65-F5344CB8AC3E}">
        <p14:creationId xmlns:p14="http://schemas.microsoft.com/office/powerpoint/2010/main" val="107282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4A90DD-648A-68C8-68FA-43A3B810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B0714-4E3F-5B32-BE74-45A543C78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6B5F7-B7AD-F7F5-967A-21AC265A4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5EE3E-3A80-43DF-9C2E-24A78683539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AECF8-EAE2-B60F-FBC5-2DC931540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44B86-C032-A72C-ED62-C206AEEA6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EF3BE-BBD1-426B-AFF3-208C1B37E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0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Logging In, Tracking Time &amp; Submitting Expenses in Constellation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step-by-step walkthrough </a:t>
            </a:r>
            <a:r>
              <a:t>for consultants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Access Constellation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Open your browser and navigate to the Constellation URL (e.g., constellation.synozur.com)</a:t>
            </a:r>
          </a:p>
          <a:p>
            <a:r>
              <a:t>Two login paths depending on your organization's setup:</a:t>
            </a:r>
          </a:p>
          <a:p>
            <a:pPr lvl="1"/>
            <a:r>
              <a:t>SSO (most users): Click “Sign in with Microsoft” — uses your existing Microsoft 365 / Azure AD credentials. No separate password required.</a:t>
            </a:r>
          </a:p>
          <a:p>
            <a:pPr lvl="1"/>
            <a:r>
              <a:t>Local login (dev/fallback): Enter your email and password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First-Time Login Experience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On first sign-in, Constellation automatically assigns you to your organization's tenant</a:t>
            </a:r>
          </a:p>
          <a:p>
            <a:r>
              <a:t>You land on your Dashboard — your personal home base</a:t>
            </a:r>
          </a:p>
          <a:p>
            <a:r>
              <a:t>Your name and role appear in the top navigation bar</a:t>
            </a:r>
          </a:p>
          <a:p>
            <a:r>
              <a:t>The left sidebar shows only the sections relevant to your role (consultants see Time, Expenses, and their Projects)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Time Entry Area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Click Time Tracking in the left sidebar</a:t>
            </a:r>
          </a:p>
          <a:p>
            <a:r>
              <a:t>The page opens to the current week by default</a:t>
            </a:r>
          </a:p>
          <a:p>
            <a:r>
              <a:t>You'll see your assigned projects listed — only projects you're actively assigned to appear here</a:t>
            </a:r>
          </a:p>
          <a:p>
            <a:r>
              <a:t>Use the week navigator (← →) to move between weeks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Your Entry Method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Constellation offers two ways to log time:</a:t>
            </a:r>
          </a:p>
          <a:p>
            <a:pPr lvl="1"/>
            <a:r>
              <a:t>Form Entry — one entry at a time, more detail control</a:t>
            </a:r>
          </a:p>
          <a:p>
            <a:pPr lvl="1"/>
            <a:r>
              <a:t>Grid Entry — spreadsheet-style, fast bulk entry across the whole week</a:t>
            </a:r>
          </a:p>
          <a:p>
            <a:r>
              <a:t>Toggle between them using the Form / Grid tab at the top of the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Entering Time via the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Click + Log Time (or the Form tab)</a:t>
            </a:r>
          </a:p>
          <a:p>
            <a:r>
              <a:t>Fill in the fields:</a:t>
            </a:r>
          </a:p>
          <a:p>
            <a:pPr lvl="1"/>
            <a:r>
              <a:t>Project — select from your approved assignments (dropdown)</a:t>
            </a:r>
          </a:p>
          <a:p>
            <a:pPr lvl="1"/>
            <a:r>
              <a:t>Date — pick the day the work was performed</a:t>
            </a:r>
          </a:p>
          <a:p>
            <a:pPr lvl="1"/>
            <a:r>
              <a:t>Hours — enter the number of hours (decimals allowed, e.g., 1.5)</a:t>
            </a:r>
          </a:p>
          <a:p>
            <a:pPr lvl="1"/>
            <a:r>
              <a:t>Description / Notes — brief summary of work done (required or optional depending on org settings)</a:t>
            </a:r>
          </a:p>
          <a:p>
            <a:pPr lvl="1"/>
            <a:r>
              <a:t>Role — pre-filled from your assignment; change only if you performed a different role</a:t>
            </a:r>
          </a:p>
          <a:p>
            <a:r>
              <a:t>Click Save — the entry appears in your weekly view immediately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Editing or Deleting a Form Entry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Click on any existing entry to open it for editing</a:t>
            </a:r>
          </a:p>
          <a:p>
            <a:r>
              <a:t>Change hours, description, or date as needed</a:t>
            </a:r>
          </a:p>
          <a:p>
            <a:r>
              <a:t>Click Save to update</a:t>
            </a:r>
          </a:p>
          <a:p>
            <a:r>
              <a:t>To delete: open the entry and click Delete (only available while the entry is in Draft status)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Entering Time via the Grid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Click the Grid tab</a:t>
            </a:r>
          </a:p>
          <a:p>
            <a:r>
              <a:t>The grid shows a row per project/role assignment and a column for each day of the week (Mon–Sun)</a:t>
            </a:r>
          </a:p>
          <a:p>
            <a:r>
              <a:t>Click any cell and type the hours directly — just like a spreadsheet</a:t>
            </a:r>
          </a:p>
          <a:p>
            <a:r>
              <a:t>Tab or arrow-key to move between cells</a:t>
            </a:r>
          </a:p>
          <a:p>
            <a:r>
              <a:t>Changes save automatically as you move between cells</a:t>
            </a:r>
          </a:p>
          <a:p>
            <a:r>
              <a:t>The row total and week total update in real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Grid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If a cell is greyed out, that day falls outside the project's active date range</a:t>
            </a:r>
          </a:p>
          <a:p>
            <a:r>
              <a:t>You can add a description/note by clicking the note icon that appears when you hover over a cell</a:t>
            </a:r>
          </a:p>
          <a:p>
            <a:r>
              <a:t>Use the week navigator at the top to fill in previous weeks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Submitting Time for Approval (if your org requires it)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Once your entries are complete, select the entries you want to submit (checkboxes in Form view, or Select All for the week in Grid view)</a:t>
            </a:r>
          </a:p>
          <a:p>
            <a:r>
              <a:t>Click Submit for Approval</a:t>
            </a:r>
          </a:p>
          <a:p>
            <a:r>
              <a:t>Status changes from Draft → Submitted</a:t>
            </a:r>
          </a:p>
          <a:p>
            <a:r>
              <a:t>Your manager receives a notification and reviews the submission</a:t>
            </a:r>
          </a:p>
          <a:p>
            <a:r>
              <a:t>You'll be notified when entries are Approved or Rejected (rejected entries include a note explaining why)</a:t>
            </a:r>
          </a:p>
          <a:p>
            <a:r>
              <a:t>Note: if your organization does not require approval, entries are ready for billing immediately after saving.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Entering Expenses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Expense Area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Click Expenses in the left sidebar</a:t>
            </a:r>
          </a:p>
          <a:p>
            <a:r>
              <a:t>You'll see a list of your previously submitted expenses</a:t>
            </a:r>
          </a:p>
          <a:p>
            <a:r>
              <a:t>Expenses must be tied to a project you're assigned 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New Expense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 lnSpcReduction="10000"/>
          </a:bodyPr>
          <a:lstStyle/>
          <a:p>
            <a:r>
              <a:t>Click + New Expense</a:t>
            </a:r>
          </a:p>
          <a:p>
            <a:r>
              <a:t>Fill in the fields:</a:t>
            </a:r>
          </a:p>
          <a:p>
            <a:pPr lvl="1"/>
            <a:r>
              <a:t>Project — select from your approved, active project assignments</a:t>
            </a:r>
          </a:p>
          <a:p>
            <a:pPr lvl="1"/>
            <a:r>
              <a:t>Expense Date — date the expense was incurred</a:t>
            </a:r>
          </a:p>
          <a:p>
            <a:pPr lvl="1"/>
            <a:r>
              <a:t>Category — e.g., Travel, Meals, Lodging, Supplies (dropdown)</a:t>
            </a:r>
          </a:p>
          <a:p>
            <a:pPr lvl="1"/>
            <a:r>
              <a:t>Amount — enter the total cost</a:t>
            </a:r>
          </a:p>
          <a:p>
            <a:pPr lvl="1"/>
            <a:r>
              <a:t>Currency — defaults to USD; change if the expense was in a different currency (exchange rate applied automatically)</a:t>
            </a:r>
          </a:p>
          <a:p>
            <a:pPr lvl="1"/>
            <a:r>
              <a:t>Description — brief explanation of the business purpose</a:t>
            </a:r>
          </a:p>
          <a:p>
            <a:pPr lvl="1"/>
            <a:r>
              <a:t>Receipt — attach a photo or PDF of your receipt (drag-and-drop or file picker)</a:t>
            </a:r>
          </a:p>
          <a:p>
            <a:r>
              <a:t>Click Save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 Diem Expenses (for travel days)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For daily meal/lodging allowances, select Per Diem as the category</a:t>
            </a:r>
          </a:p>
          <a:p>
            <a:r>
              <a:t>Enter the destination city or airport code</a:t>
            </a:r>
          </a:p>
          <a:p>
            <a:r>
              <a:t>Constellation automatically looks up the current GSA rate (domestic) or DoD OCONUS rate (international) for that location</a:t>
            </a:r>
          </a:p>
          <a:p>
            <a:r>
              <a:t>The approved per diem amount is pre-filled — no receipt required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Mileage Expenses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Select Mileage as the category</a:t>
            </a:r>
          </a:p>
          <a:p>
            <a:r>
              <a:t>Enter the number of miles driven</a:t>
            </a:r>
          </a:p>
          <a:p>
            <a:r>
              <a:t>The IRS standard mileage rate is applied automatically</a:t>
            </a:r>
          </a:p>
          <a:p>
            <a:r>
              <a:t>Add a brief description of the trip purpose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Submitting Expenses for Approval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Saved expenses start in Draft status</a:t>
            </a:r>
          </a:p>
          <a:p>
            <a:r>
              <a:t>When ready, click Submit on an individual expense (or select multiple and use Bulk Submit)</a:t>
            </a:r>
          </a:p>
          <a:p>
            <a:r>
              <a:t>Status changes to Pending Approval</a:t>
            </a:r>
          </a:p>
          <a:p>
            <a:r>
              <a:t>Your manager is notified and reviews the expense</a:t>
            </a:r>
          </a:p>
          <a:p>
            <a:r>
              <a:t>You're notified when the expense is Approved or Rejected</a:t>
            </a:r>
          </a:p>
          <a:p>
            <a:r>
              <a:t>Rejected expenses return to Draft with a note — correct and resubmit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Checking Your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Tracking What You've Submitted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Your Dashboard shows a summary card for the current week:</a:t>
            </a:r>
          </a:p>
          <a:p>
            <a:pPr lvl="1"/>
            <a:r>
              <a:t>Hours logged vs. hours expected</a:t>
            </a:r>
          </a:p>
          <a:p>
            <a:pPr lvl="1"/>
            <a:r>
              <a:t>Expenses pending approval</a:t>
            </a:r>
          </a:p>
          <a:p>
            <a:r>
              <a:t>The Time Tracking page color-codes entries by status:</a:t>
            </a:r>
          </a:p>
          <a:p>
            <a:pPr lvl="1"/>
            <a:r>
              <a:t>Grey = Draft</a:t>
            </a:r>
          </a:p>
          <a:p>
            <a:pPr lvl="1"/>
            <a:r>
              <a:t>Yellow = Submitted / Pending</a:t>
            </a:r>
          </a:p>
          <a:p>
            <a:pPr lvl="1"/>
            <a:r>
              <a:t>Green = Approved</a:t>
            </a:r>
          </a:p>
          <a:p>
            <a:pPr lvl="1"/>
            <a:r>
              <a:t>Red = Rejected</a:t>
            </a:r>
          </a:p>
          <a:p>
            <a:r>
              <a:t>The Expenses list shows the same status colors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After Approval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t>Approved time entries are picked up by billing in the next invoice cycle</a:t>
            </a:r>
          </a:p>
          <a:p>
            <a:r>
              <a:t>Approved expenses are included in billing or reimbursement per your project's contract type</a:t>
            </a:r>
          </a:p>
          <a:p>
            <a:r>
              <a:t>You don't need to do anything further — the finance team handles it from here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Reference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600" b="1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1"/>
                        <a:t>Log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Go to URL → Sign in with Microsoft (or email/password)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1"/>
                        <a:t>Enter time (form)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Time Tracking → + Log Time → fill form → Save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1"/>
                        <a:t>Enter time (grid)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Time Tracking → Grid tab → click cell → type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1"/>
                        <a:t>Submit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Select entries → Submit for Approval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1"/>
                        <a:t>Enter 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Expenses → + New Expense → fill form → attach receipt → Save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1"/>
                        <a:t>Submit 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Open expense → Submit (or Bulk Submit)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1"/>
                        <a:t>Check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Dashboard summary or color-coded status on each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r>
              <a:t>Contact your project manager if a project doesn't appear in your dropdown (you may not yet be assigned)</a:t>
            </a:r>
          </a:p>
          <a:p>
            <a:r>
              <a:t>Contact your admin if you can't log in or your role seems incorrect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1146</Words>
  <Application>Microsoft Office PowerPoint</Application>
  <PresentationFormat>Widescreen</PresentationFormat>
  <Paragraphs>129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Logging In, Tracking Time &amp; Submitting Expenses in Constellation</vt:lpstr>
      <vt:lpstr>Logging In</vt:lpstr>
      <vt:lpstr>How to Access Constellation</vt:lpstr>
      <vt:lpstr>First-Time Login Experience</vt:lpstr>
      <vt:lpstr>Entering Time</vt:lpstr>
      <vt:lpstr>Finding the Time Entry Area</vt:lpstr>
      <vt:lpstr>Choosing Your Entry Method</vt:lpstr>
      <vt:lpstr>Entering Time via the Form</vt:lpstr>
      <vt:lpstr>Editing or Deleting a Form Entry</vt:lpstr>
      <vt:lpstr>Entering Time via the Grid</vt:lpstr>
      <vt:lpstr>Grid Tips</vt:lpstr>
      <vt:lpstr>Submitting Time for Approval (if your org requires it)</vt:lpstr>
      <vt:lpstr>Entering Expenses</vt:lpstr>
      <vt:lpstr>Finding the Expense Area</vt:lpstr>
      <vt:lpstr>Creating a New Expense</vt:lpstr>
      <vt:lpstr>Per Diem Expenses (for travel days)</vt:lpstr>
      <vt:lpstr>Mileage Expenses</vt:lpstr>
      <vt:lpstr>Submitting Expenses for Approval</vt:lpstr>
      <vt:lpstr>Checking Your Status</vt:lpstr>
      <vt:lpstr>Tracking What You've Submitted</vt:lpstr>
      <vt:lpstr>What Happens After Approval</vt:lpstr>
      <vt:lpstr>Quick Reference Summary</vt:lpstr>
      <vt:lpstr>Q&amp;A / Support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McNulty</dc:creator>
  <cp:lastModifiedBy>Chris McNulty</cp:lastModifiedBy>
  <cp:revision>2</cp:revision>
  <dcterms:created xsi:type="dcterms:W3CDTF">2026-06-15T22:53:16Z</dcterms:created>
  <dcterms:modified xsi:type="dcterms:W3CDTF">2026-06-15T22:56:42Z</dcterms:modified>
</cp:coreProperties>
</file>