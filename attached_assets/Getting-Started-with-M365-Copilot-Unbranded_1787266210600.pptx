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2286000"/>
            <a:ext cx="164592" cy="1783080"/>
          </a:xfrm>
          <a:prstGeom prst="rect">
            <a:avLst/>
          </a:prstGeom>
          <a:solidFill>
            <a:srgbClr val="810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4000" b="1" i="0">
                <a:solidFill>
                  <a:srgbClr val="363635"/>
                </a:solidFill>
                <a:latin typeface="Avenir Next LT Pro Demi"/>
              </a:rPr>
              <a:t>Getting Started with Microsoft 365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160520"/>
            <a:ext cx="9692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2000" b="1" i="0">
                <a:solidFill>
                  <a:srgbClr val="810FFB"/>
                </a:solidFill>
                <a:latin typeface="Avenir Next LT Pro Demi"/>
              </a:rPr>
              <a:t>A 30-minute introduction for new users</a:t>
            </a:r>
          </a:p>
          <a:p>
            <a:pPr marL="0" indent="0">
              <a:spcAft>
                <a:spcPts val="600"/>
              </a:spcAft>
              <a:buNone/>
            </a:pPr>
            <a:r>
              <a:rPr sz="1500" b="0" i="0">
                <a:solidFill>
                  <a:srgbClr val="6B6B6B"/>
                </a:solidFill>
                <a:latin typeface="Avenir Next LT Pro Light"/>
              </a:rPr>
              <a:t>Chris McNulty, CTO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2800" b="1" i="0">
                <a:solidFill>
                  <a:srgbClr val="363635"/>
                </a:solidFill>
                <a:latin typeface="Avenir Next LT Pro Demi"/>
              </a:rPr>
              <a:t>Today's 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71600"/>
            <a:ext cx="2011680" cy="54864"/>
          </a:xfrm>
          <a:prstGeom prst="rect">
            <a:avLst/>
          </a:prstGeom>
          <a:solidFill>
            <a:srgbClr val="810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10835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800" b="0" i="0">
                <a:solidFill>
                  <a:srgbClr val="363635"/>
                </a:solidFill>
                <a:latin typeface="Avenir Next LT Pro Light"/>
              </a:rPr>
              <a:t>1   ·   Generative AI &amp; keeping data safe</a:t>
            </a:r>
          </a:p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800" b="0" i="0">
                <a:solidFill>
                  <a:srgbClr val="363635"/>
                </a:solidFill>
                <a:latin typeface="Avenir Next LT Pro Light"/>
              </a:rPr>
              <a:t>2   ·   The core Copilot app  — our main focus</a:t>
            </a:r>
          </a:p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800" b="0" i="0">
                <a:solidFill>
                  <a:srgbClr val="363635"/>
                </a:solidFill>
                <a:latin typeface="Avenir Next LT Pro Light"/>
              </a:rPr>
              <a:t>3   ·   First-party agents: Researcher &amp; Analyst</a:t>
            </a:r>
          </a:p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800" b="0" i="0">
                <a:solidFill>
                  <a:srgbClr val="363635"/>
                </a:solidFill>
                <a:latin typeface="Avenir Next LT Pro Light"/>
              </a:rPr>
              <a:t>4   ·   Build your own agents</a:t>
            </a:r>
          </a:p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800" b="0" i="0">
                <a:solidFill>
                  <a:srgbClr val="363635"/>
                </a:solidFill>
                <a:latin typeface="Avenir Next LT Pro Light"/>
              </a:rPr>
              <a:t>5   ·   Copilot Cowork &amp;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6B6B6B"/>
                </a:solidFill>
                <a:latin typeface="Avenir Next LT Pro Light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074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1500" b="1" i="0">
                <a:solidFill>
                  <a:srgbClr val="810FFB"/>
                </a:solidFill>
                <a:latin typeface="Avenir Next LT Pro Demi"/>
              </a:rPr>
              <a:t>~30 minutes  ·  hands-on demo throughout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9600" b="1" i="0">
                <a:solidFill>
                  <a:srgbClr val="C6ACF4"/>
                </a:solidFill>
                <a:latin typeface="Avenir Next LT Pro Demi"/>
              </a:rP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2606040"/>
            <a:ext cx="2377440" cy="64008"/>
          </a:xfrm>
          <a:prstGeom prst="rect">
            <a:avLst/>
          </a:prstGeom>
          <a:solidFill>
            <a:srgbClr val="810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880360"/>
            <a:ext cx="10607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3800" b="1" i="0">
                <a:solidFill>
                  <a:srgbClr val="363635"/>
                </a:solidFill>
                <a:latin typeface="Avenir Next LT Pro Demi"/>
              </a:rPr>
              <a:t>Generative AI &amp; Keeping Data Safe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0624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1800" b="1" i="0">
                <a:solidFill>
                  <a:srgbClr val="810FFB"/>
                </a:solidFill>
                <a:latin typeface="Avenir Next LT Pro Light"/>
              </a:rPr>
              <a:t>About 4 minutes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2800" b="1" i="0">
                <a:solidFill>
                  <a:srgbClr val="363635"/>
                </a:solidFill>
                <a:latin typeface="Avenir Next LT Pro Demi"/>
              </a:rPr>
              <a:t>What is generative AI?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71600"/>
            <a:ext cx="2011680" cy="54864"/>
          </a:xfrm>
          <a:prstGeom prst="rect">
            <a:avLst/>
          </a:prstGeom>
          <a:solidFill>
            <a:srgbClr val="810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10835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800" b="0" i="0">
                <a:solidFill>
                  <a:srgbClr val="363635"/>
                </a:solidFill>
                <a:latin typeface="Avenir Next LT Pro Light"/>
              </a:rPr>
              <a:t>Generative AI creates new content — text, summaries, images, ideas — from patterns learned across huge amounts of data</a:t>
            </a:r>
          </a:p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800" b="0" i="0">
                <a:solidFill>
                  <a:srgbClr val="363635"/>
                </a:solidFill>
                <a:latin typeface="Avenir Next LT Pro Light"/>
              </a:rPr>
              <a:t>You ask in plain language (a “prompt”); it drafts, summarizes, reasons, and answers</a:t>
            </a:r>
          </a:p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800" b="0" i="0">
                <a:solidFill>
                  <a:srgbClr val="363635"/>
                </a:solidFill>
                <a:latin typeface="Avenir Next LT Pro Light"/>
              </a:rPr>
              <a:t>Think of it as a fast, capable first-draft and thinking partner</a:t>
            </a:r>
          </a:p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800" b="0" i="0">
                <a:solidFill>
                  <a:srgbClr val="363635"/>
                </a:solidFill>
                <a:latin typeface="Avenir Next LT Pro Light"/>
              </a:rPr>
              <a:t>It is not a source of guaranteed truth — always read, sanity-check, and own the final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6B6B6B"/>
                </a:solidFill>
                <a:latin typeface="Avenir Next LT Pro Light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2800" b="1" i="0">
                <a:solidFill>
                  <a:srgbClr val="363635"/>
                </a:solidFill>
                <a:latin typeface="Avenir Next LT Pro Demi"/>
              </a:rPr>
              <a:t>Why Copilot is different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71600"/>
            <a:ext cx="2011680" cy="54864"/>
          </a:xfrm>
          <a:prstGeom prst="rect">
            <a:avLst/>
          </a:prstGeom>
          <a:solidFill>
            <a:srgbClr val="810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5074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700" b="0" i="0">
                <a:solidFill>
                  <a:srgbClr val="363635"/>
                </a:solidFill>
                <a:latin typeface="Avenir Next LT Pro Light"/>
              </a:rPr>
              <a:t>Grounded in your work: it can use your email, files, chats, meetings and people</a:t>
            </a:r>
          </a:p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700" b="0" i="0">
                <a:solidFill>
                  <a:srgbClr val="363635"/>
                </a:solidFill>
                <a:latin typeface="Avenir Next LT Pro Light"/>
              </a:rPr>
              <a:t>Runs inside Microsoft's enterprise boundary — your prompts and data are not used to train the AI models</a:t>
            </a:r>
          </a:p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700" b="0" i="0">
                <a:solidFill>
                  <a:srgbClr val="363635"/>
                </a:solidFill>
                <a:latin typeface="Avenir Next LT Pro Light"/>
              </a:rPr>
              <a:t>It only ever sees what you already have permission to see — nothing more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00200"/>
            <a:ext cx="5257800" cy="4434840"/>
          </a:xfrm>
          <a:prstGeom prst="roundRect">
            <a:avLst>
              <a:gd name="adj" fmla="val 4000"/>
            </a:avLst>
          </a:prstGeom>
          <a:solidFill>
            <a:srgbClr val="F4EEFE"/>
          </a:solidFill>
          <a:ln w="22225">
            <a:solidFill>
              <a:srgbClr val="810FF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 marL="0" indent="0">
              <a:spcAft>
                <a:spcPts val="600"/>
              </a:spcAft>
              <a:buNone/>
            </a:pPr>
            <a:r>
              <a:rPr sz="1300" b="1" i="0">
                <a:solidFill>
                  <a:srgbClr val="810FFB"/>
                </a:solidFill>
                <a:latin typeface="Avenir Next LT Pro Demi"/>
              </a:rPr>
              <a:t>▢  SCREENSHOT</a:t>
            </a:r>
          </a:p>
          <a:p>
            <a:pPr algn="ctr" marL="0" indent="0">
              <a:spcAft>
                <a:spcPts val="600"/>
              </a:spcAft>
              <a:buNone/>
            </a:pPr>
            <a:r>
              <a:rPr sz="1200" b="0" i="1">
                <a:solidFill>
                  <a:srgbClr val="363635"/>
                </a:solidFill>
                <a:latin typeface="Avenir Next LT Pro Light"/>
              </a:rPr>
              <a:t>Copilot chat showing a grounded answer with cited sources from your files and email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6B6B6B"/>
                </a:solidFill>
                <a:latin typeface="Avenir Next LT Pro Light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2800" b="1" i="0">
                <a:solidFill>
                  <a:srgbClr val="363635"/>
                </a:solidFill>
                <a:latin typeface="Avenir Next LT Pro Demi"/>
              </a:rPr>
              <a:t>Keep data safe: rules of the road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71600"/>
            <a:ext cx="2011680" cy="54864"/>
          </a:xfrm>
          <a:prstGeom prst="rect">
            <a:avLst/>
          </a:prstGeom>
          <a:solidFill>
            <a:srgbClr val="810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5074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500" b="0" i="0">
                <a:solidFill>
                  <a:srgbClr val="363635"/>
                </a:solidFill>
                <a:latin typeface="Avenir Next LT Pro Light"/>
              </a:rPr>
              <a:t>DO use Microsoft 365 Copilot and approved tools for work and client data</a:t>
            </a:r>
          </a:p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500" b="0" i="0">
                <a:solidFill>
                  <a:srgbClr val="363635"/>
                </a:solidFill>
                <a:latin typeface="Avenir Next LT Pro Light"/>
              </a:rPr>
              <a:t>DON'T paste confidential or client information into public / consumer AI tools</a:t>
            </a:r>
          </a:p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500" b="0" i="0">
                <a:solidFill>
                  <a:srgbClr val="363635"/>
                </a:solidFill>
                <a:latin typeface="Avenir Next LT Pro Light"/>
              </a:rPr>
              <a:t>Treat AI output at the sensitivity of its sources — don't over-share</a:t>
            </a:r>
          </a:p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500" b="0" i="0">
                <a:solidFill>
                  <a:srgbClr val="363635"/>
                </a:solidFill>
                <a:latin typeface="Avenir Next LT Pro Light"/>
              </a:rPr>
              <a:t>Verify facts, figures and names before you send or publish</a:t>
            </a:r>
          </a:p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500" b="0" i="0">
                <a:solidFill>
                  <a:srgbClr val="363635"/>
                </a:solidFill>
                <a:latin typeface="Avenir Next LT Pro Light"/>
              </a:rPr>
              <a:t>Look for the protection shield — it confirms enterprise data protection is 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00200"/>
            <a:ext cx="5257800" cy="4434840"/>
          </a:xfrm>
          <a:prstGeom prst="roundRect">
            <a:avLst>
              <a:gd name="adj" fmla="val 4000"/>
            </a:avLst>
          </a:prstGeom>
          <a:solidFill>
            <a:srgbClr val="F4EEFE"/>
          </a:solidFill>
          <a:ln w="22225">
            <a:solidFill>
              <a:srgbClr val="810FF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 marL="0" indent="0">
              <a:spcAft>
                <a:spcPts val="600"/>
              </a:spcAft>
              <a:buNone/>
            </a:pPr>
            <a:r>
              <a:rPr sz="1300" b="1" i="0">
                <a:solidFill>
                  <a:srgbClr val="810FFB"/>
                </a:solidFill>
                <a:latin typeface="Avenir Next LT Pro Demi"/>
              </a:rPr>
              <a:t>▢  SCREENSHOT</a:t>
            </a:r>
          </a:p>
          <a:p>
            <a:pPr algn="ctr" marL="0" indent="0">
              <a:spcAft>
                <a:spcPts val="600"/>
              </a:spcAft>
              <a:buNone/>
            </a:pPr>
            <a:r>
              <a:rPr sz="1200" b="0" i="1">
                <a:solidFill>
                  <a:srgbClr val="363635"/>
                </a:solidFill>
                <a:latin typeface="Avenir Next LT Pro Light"/>
              </a:rPr>
              <a:t>The 'protected' / enterprise data protection shield in the Copilot prompt box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6B6B6B"/>
                </a:solidFill>
                <a:latin typeface="Avenir Next LT Pro Light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9600" b="1" i="0">
                <a:solidFill>
                  <a:srgbClr val="C6ACF4"/>
                </a:solidFill>
                <a:latin typeface="Avenir Next LT Pro Demi"/>
              </a:rP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2606040"/>
            <a:ext cx="2377440" cy="64008"/>
          </a:xfrm>
          <a:prstGeom prst="rect">
            <a:avLst/>
          </a:prstGeom>
          <a:solidFill>
            <a:srgbClr val="810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880360"/>
            <a:ext cx="10607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3800" b="1" i="0">
                <a:solidFill>
                  <a:srgbClr val="363635"/>
                </a:solidFill>
                <a:latin typeface="Avenir Next LT Pro Demi"/>
              </a:rPr>
              <a:t>The Core Microsoft 365 Copilot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0624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1800" b="1" i="0">
                <a:solidFill>
                  <a:srgbClr val="810FFB"/>
                </a:solidFill>
                <a:latin typeface="Avenir Next LT Pro Light"/>
              </a:rPr>
              <a:t>Our main focus — about half of today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2800" b="1" i="0">
                <a:solidFill>
                  <a:srgbClr val="363635"/>
                </a:solidFill>
                <a:latin typeface="Avenir Next LT Pro Demi"/>
              </a:rPr>
              <a:t>Where to find Copilot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71600"/>
            <a:ext cx="2011680" cy="54864"/>
          </a:xfrm>
          <a:prstGeom prst="rect">
            <a:avLst/>
          </a:prstGeom>
          <a:solidFill>
            <a:srgbClr val="810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5074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700" b="0" i="0">
                <a:solidFill>
                  <a:srgbClr val="363635"/>
                </a:solidFill>
                <a:latin typeface="Avenir Next LT Pro Light"/>
              </a:rPr>
              <a:t>The Microsoft 365 Copilot app — on the web at m365.cloud.microsoft, plus the Windows app, Teams and mobile</a:t>
            </a:r>
          </a:p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700" b="0" i="0">
                <a:solidFill>
                  <a:srgbClr val="363635"/>
                </a:solidFill>
                <a:latin typeface="Avenir Next LT Pro Light"/>
              </a:rPr>
              <a:t>Built into the apps you already use: Word, Excel, PowerPoint, Outlook and Teams</a:t>
            </a:r>
          </a:p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700" b="0" i="0">
                <a:solidFill>
                  <a:srgbClr val="363635"/>
                </a:solidFill>
                <a:latin typeface="Avenir Next LT Pro Light"/>
              </a:rPr>
              <a:t>One sign-in, one Copilot — your work context travels with you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00200"/>
            <a:ext cx="5257800" cy="4434840"/>
          </a:xfrm>
          <a:prstGeom prst="roundRect">
            <a:avLst>
              <a:gd name="adj" fmla="val 4000"/>
            </a:avLst>
          </a:prstGeom>
          <a:solidFill>
            <a:srgbClr val="F4EEFE"/>
          </a:solidFill>
          <a:ln w="22225">
            <a:solidFill>
              <a:srgbClr val="810FF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 marL="0" indent="0">
              <a:spcAft>
                <a:spcPts val="600"/>
              </a:spcAft>
              <a:buNone/>
            </a:pPr>
            <a:r>
              <a:rPr sz="1300" b="1" i="0">
                <a:solidFill>
                  <a:srgbClr val="810FFB"/>
                </a:solidFill>
                <a:latin typeface="Avenir Next LT Pro Demi"/>
              </a:rPr>
              <a:t>▢  SCREENSHOT</a:t>
            </a:r>
          </a:p>
          <a:p>
            <a:pPr algn="ctr" marL="0" indent="0">
              <a:spcAft>
                <a:spcPts val="600"/>
              </a:spcAft>
              <a:buNone/>
            </a:pPr>
            <a:r>
              <a:rPr sz="1200" b="0" i="1">
                <a:solidFill>
                  <a:srgbClr val="363635"/>
                </a:solidFill>
                <a:latin typeface="Avenir Next LT Pro Light"/>
              </a:rPr>
              <a:t>The Microsoft 365 Copilot app open in a browser at m365.cloud.microsoft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6B6B6B"/>
                </a:solidFill>
                <a:latin typeface="Avenir Next LT Pro Light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2800" b="1" i="0">
                <a:solidFill>
                  <a:srgbClr val="363635"/>
                </a:solidFill>
                <a:latin typeface="Avenir Next LT Pro Demi"/>
              </a:rPr>
              <a:t>A tour of the home screen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71600"/>
            <a:ext cx="10835640" cy="3429000"/>
          </a:xfrm>
          <a:prstGeom prst="roundRect">
            <a:avLst>
              <a:gd name="adj" fmla="val 4000"/>
            </a:avLst>
          </a:prstGeom>
          <a:solidFill>
            <a:srgbClr val="F4EEFE"/>
          </a:solidFill>
          <a:ln w="22225">
            <a:solidFill>
              <a:srgbClr val="810FF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 marL="0" indent="0">
              <a:spcAft>
                <a:spcPts val="600"/>
              </a:spcAft>
              <a:buNone/>
            </a:pPr>
            <a:r>
              <a:rPr sz="1300" b="1" i="0">
                <a:solidFill>
                  <a:srgbClr val="810FFB"/>
                </a:solidFill>
                <a:latin typeface="Avenir Next LT Pro Demi"/>
              </a:rPr>
              <a:t>▢  SCREENSHOT</a:t>
            </a:r>
          </a:p>
          <a:p>
            <a:pPr algn="ctr" marL="0" indent="0">
              <a:spcAft>
                <a:spcPts val="600"/>
              </a:spcAft>
              <a:buNone/>
            </a:pPr>
            <a:r>
              <a:rPr sz="1200" b="0" i="1">
                <a:solidFill>
                  <a:srgbClr val="363635"/>
                </a:solidFill>
                <a:latin typeface="Avenir Next LT Pro Light"/>
              </a:rPr>
              <a:t>The Copilot app home — left navigation rail, central chat, and the prompt box at the bottom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983480"/>
            <a:ext cx="108356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400"/>
              </a:spcAft>
              <a:buClr>
                <a:srgbClr val="810FFB"/>
              </a:buClr>
              <a:buFont typeface="Arial"/>
              <a:buChar char="•"/>
            </a:pPr>
            <a:r>
              <a:rPr sz="1500" b="0" i="0">
                <a:solidFill>
                  <a:srgbClr val="363635"/>
                </a:solidFill>
                <a:latin typeface="Avenir Next LT Pro Light"/>
              </a:rPr>
              <a:t>Left rail: Chat, Create, Agents, Pages and Apps</a:t>
            </a:r>
          </a:p>
          <a:p>
            <a:pPr marL="228600" indent="-228600">
              <a:spcAft>
                <a:spcPts val="400"/>
              </a:spcAft>
              <a:buClr>
                <a:srgbClr val="810FFB"/>
              </a:buClr>
              <a:buFont typeface="Arial"/>
              <a:buChar char="•"/>
            </a:pPr>
            <a:r>
              <a:rPr sz="1500" b="0" i="0">
                <a:solidFill>
                  <a:srgbClr val="363635"/>
                </a:solidFill>
                <a:latin typeface="Avenir Next LT Pro Light"/>
              </a:rPr>
              <a:t>The prompt box sits at the bottom — this is where you talk to Copilot</a:t>
            </a:r>
          </a:p>
          <a:p>
            <a:pPr marL="228600" indent="-228600">
              <a:spcAft>
                <a:spcPts val="400"/>
              </a:spcAft>
              <a:buClr>
                <a:srgbClr val="810FFB"/>
              </a:buClr>
              <a:buFont typeface="Arial"/>
              <a:buChar char="•"/>
            </a:pPr>
            <a:r>
              <a:rPr sz="1500" b="0" i="0">
                <a:solidFill>
                  <a:srgbClr val="363635"/>
                </a:solidFill>
                <a:latin typeface="Avenir Next LT Pro Light"/>
              </a:rPr>
              <a:t>Your account, settings and the app launcher are top-right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6B6B6B"/>
                </a:solidFill>
                <a:latin typeface="Avenir Next LT Pro Light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2800" b="1" i="0">
                <a:solidFill>
                  <a:srgbClr val="363635"/>
                </a:solidFill>
                <a:latin typeface="Avenir Next LT Pro Demi"/>
              </a:rPr>
              <a:t>Chatting with Copilot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71600"/>
            <a:ext cx="2011680" cy="54864"/>
          </a:xfrm>
          <a:prstGeom prst="rect">
            <a:avLst/>
          </a:prstGeom>
          <a:solidFill>
            <a:srgbClr val="810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5074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700" b="0" i="0">
                <a:solidFill>
                  <a:srgbClr val="363635"/>
                </a:solidFill>
                <a:latin typeface="Avenir Next LT Pro Light"/>
              </a:rPr>
              <a:t>Type a request in the prompt box and send — Copilot replies in a conversation thread</a:t>
            </a:r>
          </a:p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700" b="0" i="0">
                <a:solidFill>
                  <a:srgbClr val="363635"/>
                </a:solidFill>
                <a:latin typeface="Avenir Next LT Pro Light"/>
              </a:rPr>
              <a:t>Not sure where to start? Use the suggested prompts</a:t>
            </a:r>
          </a:p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700" b="0" i="0">
                <a:solidFill>
                  <a:srgbClr val="363635"/>
                </a:solidFill>
                <a:latin typeface="Avenir Next LT Pro Light"/>
              </a:rPr>
              <a:t>Keep going in the same chat — Copilot remembers the conversation's context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00200"/>
            <a:ext cx="5257800" cy="4434840"/>
          </a:xfrm>
          <a:prstGeom prst="roundRect">
            <a:avLst>
              <a:gd name="adj" fmla="val 4000"/>
            </a:avLst>
          </a:prstGeom>
          <a:solidFill>
            <a:srgbClr val="F4EEFE"/>
          </a:solidFill>
          <a:ln w="22225">
            <a:solidFill>
              <a:srgbClr val="810FF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 marL="0" indent="0">
              <a:spcAft>
                <a:spcPts val="600"/>
              </a:spcAft>
              <a:buNone/>
            </a:pPr>
            <a:r>
              <a:rPr sz="1300" b="1" i="0">
                <a:solidFill>
                  <a:srgbClr val="810FFB"/>
                </a:solidFill>
                <a:latin typeface="Avenir Next LT Pro Demi"/>
              </a:rPr>
              <a:t>▢  SCREENSHOT</a:t>
            </a:r>
          </a:p>
          <a:p>
            <a:pPr algn="ctr" marL="0" indent="0">
              <a:spcAft>
                <a:spcPts val="600"/>
              </a:spcAft>
              <a:buNone/>
            </a:pPr>
            <a:r>
              <a:rPr sz="1200" b="0" i="1">
                <a:solidFill>
                  <a:srgbClr val="363635"/>
                </a:solidFill>
                <a:latin typeface="Avenir Next LT Pro Light"/>
              </a:rPr>
              <a:t>A Copilot chat thread with a prompt typed in and a response returned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6B6B6B"/>
                </a:solidFill>
                <a:latin typeface="Avenir Next LT Pro Light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2800" b="1" i="0">
                <a:solidFill>
                  <a:srgbClr val="363635"/>
                </a:solidFill>
                <a:latin typeface="Avenir Next LT Pro Demi"/>
              </a:rPr>
              <a:t>How to write a good prompt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71600"/>
            <a:ext cx="2011680" cy="54864"/>
          </a:xfrm>
          <a:prstGeom prst="rect">
            <a:avLst/>
          </a:prstGeom>
          <a:solidFill>
            <a:srgbClr val="810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10835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800" b="0" i="0">
                <a:solidFill>
                  <a:srgbClr val="363635"/>
                </a:solidFill>
                <a:latin typeface="Avenir Next LT Pro Light"/>
              </a:rPr>
              <a:t>Goal — say exactly what you want: “Summarize…”, “Draft…”, “Compare…”</a:t>
            </a:r>
          </a:p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800" b="0" i="0">
                <a:solidFill>
                  <a:srgbClr val="363635"/>
                </a:solidFill>
                <a:latin typeface="Avenir Next LT Pro Light"/>
              </a:rPr>
              <a:t>Context — add the why and the background so the answer fits</a:t>
            </a:r>
          </a:p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800" b="0" i="0">
                <a:solidFill>
                  <a:srgbClr val="363635"/>
                </a:solidFill>
                <a:latin typeface="Avenir Next LT Pro Light"/>
              </a:rPr>
              <a:t>Source — point to the right files, people or data (use / and @)</a:t>
            </a:r>
          </a:p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800" b="0" i="0">
                <a:solidFill>
                  <a:srgbClr val="363635"/>
                </a:solidFill>
                <a:latin typeface="Avenir Next LT Pro Light"/>
              </a:rPr>
              <a:t>Expectations — set the format, length and tone (“a 5-bullet summary, friendly”)</a:t>
            </a:r>
          </a:p>
          <a:p>
            <a:pPr marL="0" indent="0">
              <a:spcBef>
                <a:spcPts val="1200"/>
              </a:spcBef>
              <a:spcAft>
                <a:spcPts val="800"/>
              </a:spcAft>
              <a:buNone/>
            </a:pPr>
            <a:r>
              <a:rPr sz="1800" b="1" i="0">
                <a:solidFill>
                  <a:srgbClr val="810FFB"/>
                </a:solidFill>
                <a:latin typeface="Avenir Next LT Pro Demi"/>
              </a:rPr>
              <a:t>Remember G-C-S-E: Goal · Context · Source · Expectations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6B6B6B"/>
                </a:solidFill>
                <a:latin typeface="Avenir Next LT Pro Light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2800" b="1" i="0">
                <a:solidFill>
                  <a:srgbClr val="363635"/>
                </a:solidFill>
                <a:latin typeface="Avenir Next LT Pro Demi"/>
              </a:rPr>
              <a:t>Two prompting habits that pay off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71600"/>
            <a:ext cx="2011680" cy="54864"/>
          </a:xfrm>
          <a:prstGeom prst="rect">
            <a:avLst/>
          </a:prstGeom>
          <a:solidFill>
            <a:srgbClr val="810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5074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700" b="0" i="0">
                <a:solidFill>
                  <a:srgbClr val="363635"/>
                </a:solidFill>
                <a:latin typeface="Avenir Next LT Pro Light"/>
              </a:rPr>
              <a:t>Be specific and give context — vague in, vague out</a:t>
            </a:r>
          </a:p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700" b="0" i="0">
                <a:solidFill>
                  <a:srgbClr val="363635"/>
                </a:solidFill>
                <a:latin typeface="Avenir Next LT Pro Light"/>
              </a:rPr>
              <a:t>Iterate — refine with follow-ups instead of starting over (“make it shorter”, “more formal”)</a:t>
            </a:r>
          </a:p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700" b="0" i="0">
                <a:solidFill>
                  <a:srgbClr val="363635"/>
                </a:solidFill>
                <a:latin typeface="Avenir Next LT Pro Light"/>
              </a:rPr>
              <a:t>Bring in your content: type / to attach a file, @ to pull in a person or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00200"/>
            <a:ext cx="5257800" cy="4434840"/>
          </a:xfrm>
          <a:prstGeom prst="roundRect">
            <a:avLst>
              <a:gd name="adj" fmla="val 4000"/>
            </a:avLst>
          </a:prstGeom>
          <a:solidFill>
            <a:srgbClr val="F4EEFE"/>
          </a:solidFill>
          <a:ln w="22225">
            <a:solidFill>
              <a:srgbClr val="810FF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 marL="0" indent="0">
              <a:spcAft>
                <a:spcPts val="600"/>
              </a:spcAft>
              <a:buNone/>
            </a:pPr>
            <a:r>
              <a:rPr sz="1300" b="1" i="0">
                <a:solidFill>
                  <a:srgbClr val="810FFB"/>
                </a:solidFill>
                <a:latin typeface="Avenir Next LT Pro Demi"/>
              </a:rPr>
              <a:t>▢  SCREENSHOT</a:t>
            </a:r>
          </a:p>
          <a:p>
            <a:pPr algn="ctr" marL="0" indent="0">
              <a:spcAft>
                <a:spcPts val="600"/>
              </a:spcAft>
              <a:buNone/>
            </a:pPr>
            <a:r>
              <a:rPr sz="1200" b="0" i="1">
                <a:solidFill>
                  <a:srgbClr val="363635"/>
                </a:solidFill>
                <a:latin typeface="Avenir Next LT Pro Light"/>
              </a:rPr>
              <a:t>Using '/' to attach a file and '@' to reference a person inside a prompt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6B6B6B"/>
                </a:solidFill>
                <a:latin typeface="Avenir Next LT Pro Light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2800" b="1" i="0">
                <a:solidFill>
                  <a:srgbClr val="363635"/>
                </a:solidFill>
                <a:latin typeface="Avenir Next LT Pro Demi"/>
              </a:rPr>
              <a:t>Work IQ on vs. off — which data does Copilot use?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71600"/>
            <a:ext cx="2011680" cy="54864"/>
          </a:xfrm>
          <a:prstGeom prst="rect">
            <a:avLst/>
          </a:prstGeom>
          <a:solidFill>
            <a:srgbClr val="810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sz="1900" b="1" i="0">
                <a:solidFill>
                  <a:srgbClr val="810FFB"/>
                </a:solidFill>
                <a:latin typeface="Avenir Next LT Pro Demi"/>
              </a:rPr>
              <a:t>Work IQ ON  ·  “Work”</a:t>
            </a:r>
          </a:p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700" b="0" i="0">
                <a:solidFill>
                  <a:srgbClr val="363635"/>
                </a:solidFill>
                <a:latin typeface="Avenir Next LT Pro Light"/>
              </a:rPr>
              <a:t>Grounded in your organization's content</a:t>
            </a:r>
          </a:p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700" b="0" i="0">
                <a:solidFill>
                  <a:srgbClr val="363635"/>
                </a:solidFill>
                <a:latin typeface="Avenir Next LT Pro Light"/>
              </a:rPr>
              <a:t>Email, files, chats, meetings, people</a:t>
            </a:r>
          </a:p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700" b="0" i="0">
                <a:solidFill>
                  <a:srgbClr val="363635"/>
                </a:solidFill>
                <a:latin typeface="Avenir Next LT Pro Light"/>
              </a:rPr>
              <a:t>Best for: “What did we decide in last week's review?”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78308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sz="1900" b="1" i="0">
                <a:solidFill>
                  <a:srgbClr val="E60CB3"/>
                </a:solidFill>
                <a:latin typeface="Avenir Next LT Pro Demi"/>
              </a:rPr>
              <a:t>Work IQ OFF  ·  “Web”</a:t>
            </a:r>
          </a:p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700" b="0" i="0">
                <a:solidFill>
                  <a:srgbClr val="363635"/>
                </a:solidFill>
                <a:latin typeface="Avenir Next LT Pro Light"/>
              </a:rPr>
              <a:t>General knowledge from the open web</a:t>
            </a:r>
          </a:p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700" b="0" i="0">
                <a:solidFill>
                  <a:srgbClr val="363635"/>
                </a:solidFill>
                <a:latin typeface="Avenir Next LT Pro Light"/>
              </a:rPr>
              <a:t>No access to your company data</a:t>
            </a:r>
          </a:p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700" b="0" i="0">
                <a:solidFill>
                  <a:srgbClr val="363635"/>
                </a:solidFill>
                <a:latin typeface="Avenir Next LT Pro Light"/>
              </a:rPr>
              <a:t>Best for: drafting, brainstorming, general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978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marL="0" indent="0">
              <a:spcAft>
                <a:spcPts val="600"/>
              </a:spcAft>
              <a:buNone/>
            </a:pPr>
            <a:r>
              <a:rPr sz="1400" b="0" i="1">
                <a:solidFill>
                  <a:srgbClr val="6B6B6B"/>
                </a:solidFill>
                <a:latin typeface="Avenir Next LT Pro Light"/>
              </a:rPr>
              <a:t>Switch with the Work / Web toggle under the prompt box. For work questions, keep Work 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6B6B6B"/>
                </a:solidFill>
                <a:latin typeface="Avenir Next LT Pro Light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2800" b="1" i="0">
                <a:solidFill>
                  <a:srgbClr val="363635"/>
                </a:solidFill>
                <a:latin typeface="Avenir Next LT Pro Demi"/>
              </a:rPr>
              <a:t>Switching between Work and Web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71600"/>
            <a:ext cx="2011680" cy="54864"/>
          </a:xfrm>
          <a:prstGeom prst="rect">
            <a:avLst/>
          </a:prstGeom>
          <a:solidFill>
            <a:srgbClr val="810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5074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600" b="0" i="0">
                <a:solidFill>
                  <a:srgbClr val="363635"/>
                </a:solidFill>
                <a:latin typeface="Avenir Next LT Pro Light"/>
              </a:rPr>
              <a:t>The Work / Web toggle lives right by the prompt box</a:t>
            </a:r>
          </a:p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600" b="0" i="0">
                <a:solidFill>
                  <a:srgbClr val="363635"/>
                </a:solidFill>
                <a:latin typeface="Avenir Next LT Pro Light"/>
              </a:rPr>
              <a:t>Work = your company's data;  Web = the open internet</a:t>
            </a:r>
          </a:p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600" b="0" i="0">
                <a:solidFill>
                  <a:srgbClr val="363635"/>
                </a:solidFill>
                <a:latin typeface="Avenir Next LT Pro Light"/>
              </a:rPr>
              <a:t>Pick before you ask — or just ask again with the other setting</a:t>
            </a:r>
          </a:p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600" b="0" i="0">
                <a:solidFill>
                  <a:srgbClr val="363635"/>
                </a:solidFill>
                <a:latin typeface="Avenir Next LT Pro Light"/>
              </a:rPr>
              <a:t>Your administrator controls whether Work IQ is available to you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00200"/>
            <a:ext cx="5257800" cy="4434840"/>
          </a:xfrm>
          <a:prstGeom prst="roundRect">
            <a:avLst>
              <a:gd name="adj" fmla="val 4000"/>
            </a:avLst>
          </a:prstGeom>
          <a:solidFill>
            <a:srgbClr val="F4EEFE"/>
          </a:solidFill>
          <a:ln w="22225">
            <a:solidFill>
              <a:srgbClr val="810FF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 marL="0" indent="0">
              <a:spcAft>
                <a:spcPts val="600"/>
              </a:spcAft>
              <a:buNone/>
            </a:pPr>
            <a:r>
              <a:rPr sz="1300" b="1" i="0">
                <a:solidFill>
                  <a:srgbClr val="810FFB"/>
                </a:solidFill>
                <a:latin typeface="Avenir Next LT Pro Demi"/>
              </a:rPr>
              <a:t>▢  SCREENSHOT</a:t>
            </a:r>
          </a:p>
          <a:p>
            <a:pPr algn="ctr" marL="0" indent="0">
              <a:spcAft>
                <a:spcPts val="600"/>
              </a:spcAft>
              <a:buNone/>
            </a:pPr>
            <a:r>
              <a:rPr sz="1200" b="0" i="1">
                <a:solidFill>
                  <a:srgbClr val="363635"/>
                </a:solidFill>
                <a:latin typeface="Avenir Next LT Pro Light"/>
              </a:rPr>
              <a:t>The Work / Web toggle beneath the Copilot prompt box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6B6B6B"/>
                </a:solidFill>
                <a:latin typeface="Avenir Next LT Pro Light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2800" b="1" i="0">
                <a:solidFill>
                  <a:srgbClr val="363635"/>
                </a:solidFill>
                <a:latin typeface="Avenir Next LT Pro Demi"/>
              </a:rPr>
              <a:t>Reference your files, people &amp;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71600"/>
            <a:ext cx="2011680" cy="54864"/>
          </a:xfrm>
          <a:prstGeom prst="rect">
            <a:avLst/>
          </a:prstGeom>
          <a:solidFill>
            <a:srgbClr val="810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5074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700" b="0" i="0">
                <a:solidFill>
                  <a:srgbClr val="363635"/>
                </a:solidFill>
                <a:latin typeface="Avenir Next LT Pro Light"/>
              </a:rPr>
              <a:t>Type / to attach a specific file or email Copilot should use</a:t>
            </a:r>
          </a:p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700" b="0" i="0">
                <a:solidFill>
                  <a:srgbClr val="363635"/>
                </a:solidFill>
                <a:latin typeface="Avenir Next LT Pro Light"/>
              </a:rPr>
              <a:t>Type @ to bring in a person or an agent</a:t>
            </a:r>
          </a:p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700" b="0" i="0">
                <a:solidFill>
                  <a:srgbClr val="363635"/>
                </a:solidFill>
                <a:latin typeface="Avenir Next LT Pro Light"/>
              </a:rPr>
              <a:t>This focuses the answer on exactly the right source — and improves accuracy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00200"/>
            <a:ext cx="5257800" cy="4434840"/>
          </a:xfrm>
          <a:prstGeom prst="roundRect">
            <a:avLst>
              <a:gd name="adj" fmla="val 4000"/>
            </a:avLst>
          </a:prstGeom>
          <a:solidFill>
            <a:srgbClr val="F4EEFE"/>
          </a:solidFill>
          <a:ln w="22225">
            <a:solidFill>
              <a:srgbClr val="810FF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 marL="0" indent="0">
              <a:spcAft>
                <a:spcPts val="600"/>
              </a:spcAft>
              <a:buNone/>
            </a:pPr>
            <a:r>
              <a:rPr sz="1300" b="1" i="0">
                <a:solidFill>
                  <a:srgbClr val="810FFB"/>
                </a:solidFill>
                <a:latin typeface="Avenir Next LT Pro Demi"/>
              </a:rPr>
              <a:t>▢  SCREENSHOT</a:t>
            </a:r>
          </a:p>
          <a:p>
            <a:pPr algn="ctr" marL="0" indent="0">
              <a:spcAft>
                <a:spcPts val="600"/>
              </a:spcAft>
              <a:buNone/>
            </a:pPr>
            <a:r>
              <a:rPr sz="1200" b="0" i="1">
                <a:solidFill>
                  <a:srgbClr val="363635"/>
                </a:solidFill>
                <a:latin typeface="Avenir Next LT Pro Light"/>
              </a:rPr>
              <a:t>The file picker that appears after typing '/' in the prompt box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6B6B6B"/>
                </a:solidFill>
                <a:latin typeface="Avenir Next LT Pro Light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2800" b="1" i="0">
                <a:solidFill>
                  <a:srgbClr val="363635"/>
                </a:solidFill>
                <a:latin typeface="Avenir Next LT Pro Demi"/>
              </a:rPr>
              <a:t>Turn answers into Pages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71600"/>
            <a:ext cx="2011680" cy="54864"/>
          </a:xfrm>
          <a:prstGeom prst="rect">
            <a:avLst/>
          </a:prstGeom>
          <a:solidFill>
            <a:srgbClr val="810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5074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700" b="0" i="0">
                <a:solidFill>
                  <a:srgbClr val="363635"/>
                </a:solidFill>
                <a:latin typeface="Avenir Next LT Pro Light"/>
              </a:rPr>
              <a:t>Send a strong response to a Page — an editable canvas beside the chat</a:t>
            </a:r>
          </a:p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700" b="0" i="0">
                <a:solidFill>
                  <a:srgbClr val="363635"/>
                </a:solidFill>
                <a:latin typeface="Avenir Next LT Pro Light"/>
              </a:rPr>
              <a:t>Refine, restructure and build on it; co-edit with colleagues</a:t>
            </a:r>
          </a:p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700" b="0" i="0">
                <a:solidFill>
                  <a:srgbClr val="363635"/>
                </a:solidFill>
                <a:latin typeface="Avenir Next LT Pro Light"/>
              </a:rPr>
              <a:t>Great for longer outputs you want to shape, not just read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00200"/>
            <a:ext cx="5257800" cy="4434840"/>
          </a:xfrm>
          <a:prstGeom prst="roundRect">
            <a:avLst>
              <a:gd name="adj" fmla="val 4000"/>
            </a:avLst>
          </a:prstGeom>
          <a:solidFill>
            <a:srgbClr val="F4EEFE"/>
          </a:solidFill>
          <a:ln w="22225">
            <a:solidFill>
              <a:srgbClr val="810FF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 marL="0" indent="0">
              <a:spcAft>
                <a:spcPts val="600"/>
              </a:spcAft>
              <a:buNone/>
            </a:pPr>
            <a:r>
              <a:rPr sz="1300" b="1" i="0">
                <a:solidFill>
                  <a:srgbClr val="810FFB"/>
                </a:solidFill>
                <a:latin typeface="Avenir Next LT Pro Demi"/>
              </a:rPr>
              <a:t>▢  SCREENSHOT</a:t>
            </a:r>
          </a:p>
          <a:p>
            <a:pPr algn="ctr" marL="0" indent="0">
              <a:spcAft>
                <a:spcPts val="600"/>
              </a:spcAft>
              <a:buNone/>
            </a:pPr>
            <a:r>
              <a:rPr sz="1200" b="0" i="1">
                <a:solidFill>
                  <a:srgbClr val="363635"/>
                </a:solidFill>
                <a:latin typeface="Avenir Next LT Pro Light"/>
              </a:rPr>
              <a:t>A Copilot response opened as a Page in the side-by-side canvas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6B6B6B"/>
                </a:solidFill>
                <a:latin typeface="Avenir Next LT Pro Light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2800" b="1" i="0">
                <a:solidFill>
                  <a:srgbClr val="363635"/>
                </a:solidFill>
                <a:latin typeface="Avenir Next LT Pro Demi"/>
              </a:rPr>
              <a:t>Navigate &amp; export your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71600"/>
            <a:ext cx="2011680" cy="54864"/>
          </a:xfrm>
          <a:prstGeom prst="rect">
            <a:avLst/>
          </a:prstGeom>
          <a:solidFill>
            <a:srgbClr val="810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5074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700" b="0" i="0">
                <a:solidFill>
                  <a:srgbClr val="363635"/>
                </a:solidFill>
                <a:latin typeface="Avenir Next LT Pro Light"/>
              </a:rPr>
              <a:t>Copy any response, or give a quick thumbs up / down to improve results</a:t>
            </a:r>
          </a:p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700" b="0" i="0">
                <a:solidFill>
                  <a:srgbClr val="363635"/>
                </a:solidFill>
                <a:latin typeface="Avenir Next LT Pro Light"/>
              </a:rPr>
              <a:t>Export to Word, PDF or Excel; from a Page, export straight to Word</a:t>
            </a:r>
          </a:p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700" b="0" i="0">
                <a:solidFill>
                  <a:srgbClr val="363635"/>
                </a:solidFill>
                <a:latin typeface="Avenir Next LT Pro Light"/>
              </a:rPr>
              <a:t>Re-use outputs in the Office apps without retyping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00200"/>
            <a:ext cx="5257800" cy="4434840"/>
          </a:xfrm>
          <a:prstGeom prst="roundRect">
            <a:avLst>
              <a:gd name="adj" fmla="val 4000"/>
            </a:avLst>
          </a:prstGeom>
          <a:solidFill>
            <a:srgbClr val="F4EEFE"/>
          </a:solidFill>
          <a:ln w="22225">
            <a:solidFill>
              <a:srgbClr val="810FF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 marL="0" indent="0">
              <a:spcAft>
                <a:spcPts val="600"/>
              </a:spcAft>
              <a:buNone/>
            </a:pPr>
            <a:r>
              <a:rPr sz="1300" b="1" i="0">
                <a:solidFill>
                  <a:srgbClr val="810FFB"/>
                </a:solidFill>
                <a:latin typeface="Avenir Next LT Pro Demi"/>
              </a:rPr>
              <a:t>▢  SCREENSHOT</a:t>
            </a:r>
          </a:p>
          <a:p>
            <a:pPr algn="ctr" marL="0" indent="0">
              <a:spcAft>
                <a:spcPts val="600"/>
              </a:spcAft>
              <a:buNone/>
            </a:pPr>
            <a:r>
              <a:rPr sz="1200" b="0" i="1">
                <a:solidFill>
                  <a:srgbClr val="363635"/>
                </a:solidFill>
                <a:latin typeface="Avenir Next LT Pro Light"/>
              </a:rPr>
              <a:t>The export menu on a response — Word, PDF and Excel options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6B6B6B"/>
                </a:solidFill>
                <a:latin typeface="Avenir Next LT Pro Light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2800" b="1" i="0">
                <a:solidFill>
                  <a:srgbClr val="363635"/>
                </a:solidFill>
                <a:latin typeface="Avenir Next LT Pro Demi"/>
              </a:rPr>
              <a:t>Find your chat history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71600"/>
            <a:ext cx="2011680" cy="54864"/>
          </a:xfrm>
          <a:prstGeom prst="rect">
            <a:avLst/>
          </a:prstGeom>
          <a:solidFill>
            <a:srgbClr val="810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5074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700" b="0" i="0">
                <a:solidFill>
                  <a:srgbClr val="363635"/>
                </a:solidFill>
                <a:latin typeface="Avenir Next LT Pro Light"/>
              </a:rPr>
              <a:t>Past chats are saved in the left rail — reopen, rename or continue them</a:t>
            </a:r>
          </a:p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700" b="0" i="0">
                <a:solidFill>
                  <a:srgbClr val="363635"/>
                </a:solidFill>
                <a:latin typeface="Avenir Next LT Pro Light"/>
              </a:rPr>
              <a:t>Pick up a thread days later with its full context intact</a:t>
            </a:r>
          </a:p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700" b="0" i="0">
                <a:solidFill>
                  <a:srgbClr val="363635"/>
                </a:solidFill>
                <a:latin typeface="Avenir Next LT Pro Light"/>
              </a:rPr>
              <a:t>History stays inside your protected data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00200"/>
            <a:ext cx="5257800" cy="4434840"/>
          </a:xfrm>
          <a:prstGeom prst="roundRect">
            <a:avLst>
              <a:gd name="adj" fmla="val 4000"/>
            </a:avLst>
          </a:prstGeom>
          <a:solidFill>
            <a:srgbClr val="F4EEFE"/>
          </a:solidFill>
          <a:ln w="22225">
            <a:solidFill>
              <a:srgbClr val="810FF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 marL="0" indent="0">
              <a:spcAft>
                <a:spcPts val="600"/>
              </a:spcAft>
              <a:buNone/>
            </a:pPr>
            <a:r>
              <a:rPr sz="1300" b="1" i="0">
                <a:solidFill>
                  <a:srgbClr val="810FFB"/>
                </a:solidFill>
                <a:latin typeface="Avenir Next LT Pro Demi"/>
              </a:rPr>
              <a:t>▢  SCREENSHOT</a:t>
            </a:r>
          </a:p>
          <a:p>
            <a:pPr algn="ctr" marL="0" indent="0">
              <a:spcAft>
                <a:spcPts val="600"/>
              </a:spcAft>
              <a:buNone/>
            </a:pPr>
            <a:r>
              <a:rPr sz="1200" b="0" i="1">
                <a:solidFill>
                  <a:srgbClr val="363635"/>
                </a:solidFill>
                <a:latin typeface="Avenir Next LT Pro Light"/>
              </a:rPr>
              <a:t>The chat history list in the left navigation rail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6B6B6B"/>
                </a:solidFill>
                <a:latin typeface="Avenir Next LT Pro Light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2800" b="1" i="0">
                <a:solidFill>
                  <a:srgbClr val="363635"/>
                </a:solidFill>
                <a:latin typeface="Avenir Next LT Pro Demi"/>
              </a:rPr>
              <a:t>Settings, instructions &amp; other apps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71600"/>
            <a:ext cx="2011680" cy="54864"/>
          </a:xfrm>
          <a:prstGeom prst="rect">
            <a:avLst/>
          </a:prstGeom>
          <a:solidFill>
            <a:srgbClr val="810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5074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600" b="0" i="0">
                <a:solidFill>
                  <a:srgbClr val="363635"/>
                </a:solidFill>
                <a:latin typeface="Avenir Next LT Pro Light"/>
              </a:rPr>
              <a:t>In Settings, set personalization and custom instructions for how Copilot responds</a:t>
            </a:r>
          </a:p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600" b="0" i="0">
                <a:solidFill>
                  <a:srgbClr val="363635"/>
                </a:solidFill>
                <a:latin typeface="Avenir Next LT Pro Light"/>
              </a:rPr>
              <a:t>Manage connected apps and your language preference</a:t>
            </a:r>
          </a:p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600" b="0" i="0">
                <a:solidFill>
                  <a:srgbClr val="363635"/>
                </a:solidFill>
                <a:latin typeface="Avenir Next LT Pro Light"/>
              </a:rPr>
              <a:t>Use the app launcher to jump to Word, Excel, PowerPoint, Outlook &amp; Teams — each has Copilot built 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00200"/>
            <a:ext cx="5257800" cy="4434840"/>
          </a:xfrm>
          <a:prstGeom prst="roundRect">
            <a:avLst>
              <a:gd name="adj" fmla="val 4000"/>
            </a:avLst>
          </a:prstGeom>
          <a:solidFill>
            <a:srgbClr val="F4EEFE"/>
          </a:solidFill>
          <a:ln w="22225">
            <a:solidFill>
              <a:srgbClr val="810FF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 marL="0" indent="0">
              <a:spcAft>
                <a:spcPts val="600"/>
              </a:spcAft>
              <a:buNone/>
            </a:pPr>
            <a:r>
              <a:rPr sz="1300" b="1" i="0">
                <a:solidFill>
                  <a:srgbClr val="810FFB"/>
                </a:solidFill>
                <a:latin typeface="Avenir Next LT Pro Demi"/>
              </a:rPr>
              <a:t>▢  SCREENSHOT</a:t>
            </a:r>
          </a:p>
          <a:p>
            <a:pPr algn="ctr" marL="0" indent="0">
              <a:spcAft>
                <a:spcPts val="600"/>
              </a:spcAft>
              <a:buNone/>
            </a:pPr>
            <a:r>
              <a:rPr sz="1200" b="0" i="1">
                <a:solidFill>
                  <a:srgbClr val="363635"/>
                </a:solidFill>
                <a:latin typeface="Avenir Next LT Pro Light"/>
              </a:rPr>
              <a:t>Copilot Settings with custom instructions, plus the app launcher menu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6B6B6B"/>
                </a:solidFill>
                <a:latin typeface="Avenir Next LT Pro Light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9600" b="1" i="0">
                <a:solidFill>
                  <a:srgbClr val="C6ACF4"/>
                </a:solidFill>
                <a:latin typeface="Avenir Next LT Pro Demi"/>
              </a:rP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2606040"/>
            <a:ext cx="2377440" cy="64008"/>
          </a:xfrm>
          <a:prstGeom prst="rect">
            <a:avLst/>
          </a:prstGeom>
          <a:solidFill>
            <a:srgbClr val="810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880360"/>
            <a:ext cx="10607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3800" b="1" i="0">
                <a:solidFill>
                  <a:srgbClr val="363635"/>
                </a:solidFill>
                <a:latin typeface="Avenir Next LT Pro Demi"/>
              </a:rPr>
              <a:t>First-Party Agents: Researcher &amp; Analyst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0624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1800" b="1" i="0">
                <a:solidFill>
                  <a:srgbClr val="810FFB"/>
                </a:solidFill>
                <a:latin typeface="Avenir Next LT Pro Light"/>
              </a:rPr>
              <a:t>About 4 minutes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2800" b="1" i="0">
                <a:solidFill>
                  <a:srgbClr val="363635"/>
                </a:solidFill>
                <a:latin typeface="Avenir Next LT Pro Demi"/>
              </a:rPr>
              <a:t>What are first-party agents?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71600"/>
            <a:ext cx="2011680" cy="54864"/>
          </a:xfrm>
          <a:prstGeom prst="rect">
            <a:avLst/>
          </a:prstGeom>
          <a:solidFill>
            <a:srgbClr val="810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5074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700" b="0" i="0">
                <a:solidFill>
                  <a:srgbClr val="363635"/>
                </a:solidFill>
                <a:latin typeface="Avenir Next LT Pro Light"/>
              </a:rPr>
              <a:t>Agents are Copilot specialists built for bigger, multi-step jobs</a:t>
            </a:r>
          </a:p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700" b="0" i="0">
                <a:solidFill>
                  <a:srgbClr val="363635"/>
                </a:solidFill>
                <a:latin typeface="Avenir Next LT Pro Light"/>
              </a:rPr>
              <a:t>Microsoft's first-party agents live in the Agents area of the left rail</a:t>
            </a:r>
          </a:p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700" b="0" i="0">
                <a:solidFill>
                  <a:srgbClr val="363635"/>
                </a:solidFill>
                <a:latin typeface="Avenir Next LT Pro Light"/>
              </a:rPr>
              <a:t>Two standouts come with Copilot: Researcher and Analyst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00200"/>
            <a:ext cx="5257800" cy="4434840"/>
          </a:xfrm>
          <a:prstGeom prst="roundRect">
            <a:avLst>
              <a:gd name="adj" fmla="val 4000"/>
            </a:avLst>
          </a:prstGeom>
          <a:solidFill>
            <a:srgbClr val="F4EEFE"/>
          </a:solidFill>
          <a:ln w="22225">
            <a:solidFill>
              <a:srgbClr val="810FF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 marL="0" indent="0">
              <a:spcAft>
                <a:spcPts val="600"/>
              </a:spcAft>
              <a:buNone/>
            </a:pPr>
            <a:r>
              <a:rPr sz="1300" b="1" i="0">
                <a:solidFill>
                  <a:srgbClr val="810FFB"/>
                </a:solidFill>
                <a:latin typeface="Avenir Next LT Pro Demi"/>
              </a:rPr>
              <a:t>▢  SCREENSHOT</a:t>
            </a:r>
          </a:p>
          <a:p>
            <a:pPr algn="ctr" marL="0" indent="0">
              <a:spcAft>
                <a:spcPts val="600"/>
              </a:spcAft>
              <a:buNone/>
            </a:pPr>
            <a:r>
              <a:rPr sz="1200" b="0" i="1">
                <a:solidFill>
                  <a:srgbClr val="363635"/>
                </a:solidFill>
                <a:latin typeface="Avenir Next LT Pro Light"/>
              </a:rPr>
              <a:t>The Agents section of the Copilot app showing Researcher and Analyst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6B6B6B"/>
                </a:solidFill>
                <a:latin typeface="Avenir Next LT Pro Light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2800" b="1" i="0">
                <a:solidFill>
                  <a:srgbClr val="363635"/>
                </a:solidFill>
                <a:latin typeface="Avenir Next LT Pro Demi"/>
              </a:rPr>
              <a:t>Researcher — go deep, with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71600"/>
            <a:ext cx="2011680" cy="54864"/>
          </a:xfrm>
          <a:prstGeom prst="rect">
            <a:avLst/>
          </a:prstGeom>
          <a:solidFill>
            <a:srgbClr val="810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5074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700" b="0" i="0">
                <a:solidFill>
                  <a:srgbClr val="363635"/>
                </a:solidFill>
                <a:latin typeface="Avenir Next LT Pro Light"/>
              </a:rPr>
              <a:t>Tackles complex research across your work content and the web</a:t>
            </a:r>
          </a:p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700" b="0" i="0">
                <a:solidFill>
                  <a:srgbClr val="363635"/>
                </a:solidFill>
                <a:latin typeface="Avenir Next LT Pro Light"/>
              </a:rPr>
              <a:t>Plans the work, may ask clarifying questions, then returns a thorough, cited report</a:t>
            </a:r>
          </a:p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700" b="0" i="0">
                <a:solidFill>
                  <a:srgbClr val="363635"/>
                </a:solidFill>
                <a:latin typeface="Avenir Next LT Pro Light"/>
              </a:rPr>
              <a:t>Great for competitive analyses, market briefings and go-to-market plans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00200"/>
            <a:ext cx="5257800" cy="4434840"/>
          </a:xfrm>
          <a:prstGeom prst="roundRect">
            <a:avLst>
              <a:gd name="adj" fmla="val 4000"/>
            </a:avLst>
          </a:prstGeom>
          <a:solidFill>
            <a:srgbClr val="F4EEFE"/>
          </a:solidFill>
          <a:ln w="22225">
            <a:solidFill>
              <a:srgbClr val="810FF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 marL="0" indent="0">
              <a:spcAft>
                <a:spcPts val="600"/>
              </a:spcAft>
              <a:buNone/>
            </a:pPr>
            <a:r>
              <a:rPr sz="1300" b="1" i="0">
                <a:solidFill>
                  <a:srgbClr val="810FFB"/>
                </a:solidFill>
                <a:latin typeface="Avenir Next LT Pro Demi"/>
              </a:rPr>
              <a:t>▢  SCREENSHOT</a:t>
            </a:r>
          </a:p>
          <a:p>
            <a:pPr algn="ctr" marL="0" indent="0">
              <a:spcAft>
                <a:spcPts val="600"/>
              </a:spcAft>
              <a:buNone/>
            </a:pPr>
            <a:r>
              <a:rPr sz="1200" b="0" i="1">
                <a:solidFill>
                  <a:srgbClr val="363635"/>
                </a:solidFill>
                <a:latin typeface="Avenir Next LT Pro Light"/>
              </a:rPr>
              <a:t>Researcher working through a multi-step research task with citations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6B6B6B"/>
                </a:solidFill>
                <a:latin typeface="Avenir Next LT Pro Light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2800" b="1" i="0">
                <a:solidFill>
                  <a:srgbClr val="363635"/>
                </a:solidFill>
                <a:latin typeface="Avenir Next LT Pro Demi"/>
              </a:rPr>
              <a:t>Analyst — make sense of your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71600"/>
            <a:ext cx="2011680" cy="54864"/>
          </a:xfrm>
          <a:prstGeom prst="rect">
            <a:avLst/>
          </a:prstGeom>
          <a:solidFill>
            <a:srgbClr val="810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5074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700" b="0" i="0">
                <a:solidFill>
                  <a:srgbClr val="363635"/>
                </a:solidFill>
                <a:latin typeface="Avenir Next LT Pro Light"/>
              </a:rPr>
              <a:t>Thinks like a skilled data analyst and even writes &amp; runs Python on your data</a:t>
            </a:r>
          </a:p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700" b="0" i="0">
                <a:solidFill>
                  <a:srgbClr val="363635"/>
                </a:solidFill>
                <a:latin typeface="Avenir Next LT Pro Light"/>
              </a:rPr>
              <a:t>Turns raw spreadsheets and CSVs into trends, charts and models</a:t>
            </a:r>
          </a:p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700" b="0" i="0">
                <a:solidFill>
                  <a:srgbClr val="363635"/>
                </a:solidFill>
                <a:latin typeface="Avenir Next LT Pro Light"/>
              </a:rPr>
              <a:t>Shows its reasoning so you can trust — and check — the result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00200"/>
            <a:ext cx="5257800" cy="4434840"/>
          </a:xfrm>
          <a:prstGeom prst="roundRect">
            <a:avLst>
              <a:gd name="adj" fmla="val 4000"/>
            </a:avLst>
          </a:prstGeom>
          <a:solidFill>
            <a:srgbClr val="F4EEFE"/>
          </a:solidFill>
          <a:ln w="22225">
            <a:solidFill>
              <a:srgbClr val="810FF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 marL="0" indent="0">
              <a:spcAft>
                <a:spcPts val="600"/>
              </a:spcAft>
              <a:buNone/>
            </a:pPr>
            <a:r>
              <a:rPr sz="1300" b="1" i="0">
                <a:solidFill>
                  <a:srgbClr val="810FFB"/>
                </a:solidFill>
                <a:latin typeface="Avenir Next LT Pro Demi"/>
              </a:rPr>
              <a:t>▢  SCREENSHOT</a:t>
            </a:r>
          </a:p>
          <a:p>
            <a:pPr algn="ctr" marL="0" indent="0">
              <a:spcAft>
                <a:spcPts val="600"/>
              </a:spcAft>
              <a:buNone/>
            </a:pPr>
            <a:r>
              <a:rPr sz="1200" b="0" i="1">
                <a:solidFill>
                  <a:srgbClr val="363635"/>
                </a:solidFill>
                <a:latin typeface="Avenir Next LT Pro Light"/>
              </a:rPr>
              <a:t>Analyst turning an Excel file into a chart and a summary of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6B6B6B"/>
                </a:solidFill>
                <a:latin typeface="Avenir Next LT Pro Light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9600" b="1" i="0">
                <a:solidFill>
                  <a:srgbClr val="C6ACF4"/>
                </a:solidFill>
                <a:latin typeface="Avenir Next LT Pro Demi"/>
              </a:rP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2606040"/>
            <a:ext cx="2377440" cy="64008"/>
          </a:xfrm>
          <a:prstGeom prst="rect">
            <a:avLst/>
          </a:prstGeom>
          <a:solidFill>
            <a:srgbClr val="810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880360"/>
            <a:ext cx="10607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3800" b="1" i="0">
                <a:solidFill>
                  <a:srgbClr val="363635"/>
                </a:solidFill>
                <a:latin typeface="Avenir Next LT Pro Demi"/>
              </a:rPr>
              <a:t>Build Your Own: Agents &amp; Agent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0624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1800" b="1" i="0">
                <a:solidFill>
                  <a:srgbClr val="810FFB"/>
                </a:solidFill>
                <a:latin typeface="Avenir Next LT Pro Light"/>
              </a:rPr>
              <a:t>About 4 minutes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2800" b="1" i="0">
                <a:solidFill>
                  <a:srgbClr val="363635"/>
                </a:solidFill>
                <a:latin typeface="Avenir Next LT Pro Demi"/>
              </a:rPr>
              <a:t>What is a custom agent?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71600"/>
            <a:ext cx="2011680" cy="54864"/>
          </a:xfrm>
          <a:prstGeom prst="rect">
            <a:avLst/>
          </a:prstGeom>
          <a:solidFill>
            <a:srgbClr val="810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5074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700" b="0" i="0">
                <a:solidFill>
                  <a:srgbClr val="363635"/>
                </a:solidFill>
                <a:latin typeface="Avenir Next LT Pro Light"/>
              </a:rPr>
              <a:t>A focused assistant you create for one job, grounded on specific content</a:t>
            </a:r>
          </a:p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700" b="0" i="0">
                <a:solidFill>
                  <a:srgbClr val="363635"/>
                </a:solidFill>
                <a:latin typeface="Avenir Next LT Pro Light"/>
              </a:rPr>
              <a:t>No code — you describe what it should do in plain language</a:t>
            </a:r>
          </a:p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700" b="0" i="0">
                <a:solidFill>
                  <a:srgbClr val="363635"/>
                </a:solidFill>
                <a:latin typeface="Avenir Next LT Pro Light"/>
              </a:rPr>
              <a:t>Perfect for repeat questions on a fixed set of documents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00200"/>
            <a:ext cx="5257800" cy="4434840"/>
          </a:xfrm>
          <a:prstGeom prst="roundRect">
            <a:avLst>
              <a:gd name="adj" fmla="val 4000"/>
            </a:avLst>
          </a:prstGeom>
          <a:solidFill>
            <a:srgbClr val="F4EEFE"/>
          </a:solidFill>
          <a:ln w="22225">
            <a:solidFill>
              <a:srgbClr val="810FF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 marL="0" indent="0">
              <a:spcAft>
                <a:spcPts val="600"/>
              </a:spcAft>
              <a:buNone/>
            </a:pPr>
            <a:r>
              <a:rPr sz="1300" b="1" i="0">
                <a:solidFill>
                  <a:srgbClr val="810FFB"/>
                </a:solidFill>
                <a:latin typeface="Avenir Next LT Pro Demi"/>
              </a:rPr>
              <a:t>▢  SCREENSHOT</a:t>
            </a:r>
          </a:p>
          <a:p>
            <a:pPr algn="ctr" marL="0" indent="0">
              <a:spcAft>
                <a:spcPts val="600"/>
              </a:spcAft>
              <a:buNone/>
            </a:pPr>
            <a:r>
              <a:rPr sz="1200" b="0" i="1">
                <a:solidFill>
                  <a:srgbClr val="363635"/>
                </a:solidFill>
                <a:latin typeface="Avenir Next LT Pro Light"/>
              </a:rPr>
              <a:t>The 'Create an agent' / Agent Builder entry point in the Copilot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6B6B6B"/>
                </a:solidFill>
                <a:latin typeface="Avenir Next LT Pro Light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2800" b="1" i="0">
                <a:solidFill>
                  <a:srgbClr val="363635"/>
                </a:solidFill>
                <a:latin typeface="Avenir Next LT Pro Demi"/>
              </a:rPr>
              <a:t>Build an agent in five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71600"/>
            <a:ext cx="2011680" cy="54864"/>
          </a:xfrm>
          <a:prstGeom prst="rect">
            <a:avLst/>
          </a:prstGeom>
          <a:solidFill>
            <a:srgbClr val="810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10835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800" b="0" i="0">
                <a:solidFill>
                  <a:srgbClr val="363635"/>
                </a:solidFill>
                <a:latin typeface="Avenir Next LT Pro Light"/>
              </a:rPr>
              <a:t>1   ·   Name &amp; describe it — what is this agent for?</a:t>
            </a:r>
          </a:p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800" b="0" i="0">
                <a:solidFill>
                  <a:srgbClr val="363635"/>
                </a:solidFill>
                <a:latin typeface="Avenir Next LT Pro Light"/>
              </a:rPr>
              <a:t>2   ·   Write instructions — how it should behave and respond</a:t>
            </a:r>
          </a:p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800" b="0" i="0">
                <a:solidFill>
                  <a:srgbClr val="363635"/>
                </a:solidFill>
                <a:latin typeface="Avenir Next LT Pro Light"/>
              </a:rPr>
              <a:t>3   ·   Add knowledge — point it at specific files, SharePoint sites or pages</a:t>
            </a:r>
          </a:p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800" b="0" i="0">
                <a:solidFill>
                  <a:srgbClr val="363635"/>
                </a:solidFill>
                <a:latin typeface="Avenir Next LT Pro Light"/>
              </a:rPr>
              <a:t>4   ·   Add starter prompts — example questions to get users going</a:t>
            </a:r>
          </a:p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800" b="0" i="0">
                <a:solidFill>
                  <a:srgbClr val="363635"/>
                </a:solidFill>
                <a:latin typeface="Avenir Next LT Pro Light"/>
              </a:rPr>
              <a:t>5   ·   Test it, then share it with your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6B6B6B"/>
                </a:solidFill>
                <a:latin typeface="Avenir Next LT Pro Light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2800" b="1" i="0">
                <a:solidFill>
                  <a:srgbClr val="363635"/>
                </a:solidFill>
                <a:latin typeface="Avenir Next LT Pro Demi"/>
              </a:rPr>
              <a:t>Example: an agent on your content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71600"/>
            <a:ext cx="2011680" cy="54864"/>
          </a:xfrm>
          <a:prstGeom prst="rect">
            <a:avLst/>
          </a:prstGeom>
          <a:solidFill>
            <a:srgbClr val="810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5074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700" b="0" i="0">
                <a:solidFill>
                  <a:srgbClr val="363635"/>
                </a:solidFill>
                <a:latin typeface="Avenir Next LT Pro Light"/>
              </a:rPr>
              <a:t>A “Proposal Helper” grounded on a folder of past winning proposals</a:t>
            </a:r>
          </a:p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700" b="0" i="0">
                <a:solidFill>
                  <a:srgbClr val="363635"/>
                </a:solidFill>
                <a:latin typeface="Avenir Next LT Pro Light"/>
              </a:rPr>
              <a:t>A “Policy Buddy” that answers only from your HR handbook</a:t>
            </a:r>
          </a:p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700" b="0" i="0">
                <a:solidFill>
                  <a:srgbClr val="363635"/>
                </a:solidFill>
                <a:latin typeface="Avenir Next LT Pro Light"/>
              </a:rPr>
              <a:t>It responds from that content — consistent, on-message and always available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00200"/>
            <a:ext cx="5257800" cy="4434840"/>
          </a:xfrm>
          <a:prstGeom prst="roundRect">
            <a:avLst>
              <a:gd name="adj" fmla="val 4000"/>
            </a:avLst>
          </a:prstGeom>
          <a:solidFill>
            <a:srgbClr val="F4EEFE"/>
          </a:solidFill>
          <a:ln w="22225">
            <a:solidFill>
              <a:srgbClr val="810FF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 marL="0" indent="0">
              <a:spcAft>
                <a:spcPts val="600"/>
              </a:spcAft>
              <a:buNone/>
            </a:pPr>
            <a:r>
              <a:rPr sz="1300" b="1" i="0">
                <a:solidFill>
                  <a:srgbClr val="810FFB"/>
                </a:solidFill>
                <a:latin typeface="Avenir Next LT Pro Demi"/>
              </a:rPr>
              <a:t>▢  SCREENSHOT</a:t>
            </a:r>
          </a:p>
          <a:p>
            <a:pPr algn="ctr" marL="0" indent="0">
              <a:spcAft>
                <a:spcPts val="600"/>
              </a:spcAft>
              <a:buNone/>
            </a:pPr>
            <a:r>
              <a:rPr sz="1200" b="0" i="1">
                <a:solidFill>
                  <a:srgbClr val="363635"/>
                </a:solidFill>
                <a:latin typeface="Avenir Next LT Pro Light"/>
              </a:rPr>
              <a:t>Agent Builder with a SharePoint document library added as a knowledge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6B6B6B"/>
                </a:solidFill>
                <a:latin typeface="Avenir Next LT Pro Light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9600" b="1" i="0">
                <a:solidFill>
                  <a:srgbClr val="C6ACF4"/>
                </a:solidFill>
                <a:latin typeface="Avenir Next LT Pro Demi"/>
              </a:rPr>
              <a:t>05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2606040"/>
            <a:ext cx="2377440" cy="64008"/>
          </a:xfrm>
          <a:prstGeom prst="rect">
            <a:avLst/>
          </a:prstGeom>
          <a:solidFill>
            <a:srgbClr val="810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880360"/>
            <a:ext cx="10607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3800" b="1" i="0">
                <a:solidFill>
                  <a:srgbClr val="363635"/>
                </a:solidFill>
                <a:latin typeface="Avenir Next LT Pro Demi"/>
              </a:rPr>
              <a:t>Copilot Cowork &amp;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0624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1800" b="1" i="0">
                <a:solidFill>
                  <a:srgbClr val="810FFB"/>
                </a:solidFill>
                <a:latin typeface="Avenir Next LT Pro Light"/>
              </a:rPr>
              <a:t>About 3 minutes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2800" b="1" i="0">
                <a:solidFill>
                  <a:srgbClr val="363635"/>
                </a:solidFill>
                <a:latin typeface="Avenir Next LT Pro Demi"/>
              </a:rPr>
              <a:t>Copilot Cowork — delegate bigger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71600"/>
            <a:ext cx="2011680" cy="54864"/>
          </a:xfrm>
          <a:prstGeom prst="rect">
            <a:avLst/>
          </a:prstGeom>
          <a:solidFill>
            <a:srgbClr val="810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5074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700" b="0" i="0">
                <a:solidFill>
                  <a:srgbClr val="363635"/>
                </a:solidFill>
                <a:latin typeface="Avenir Next LT Pro Light"/>
              </a:rPr>
              <a:t>Hand Copilot a whole activity, not just a single question</a:t>
            </a:r>
          </a:p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700" b="0" i="0">
                <a:solidFill>
                  <a:srgbClr val="363635"/>
                </a:solidFill>
                <a:latin typeface="Avenir Next LT Pro Light"/>
              </a:rPr>
              <a:t>It works through many steps — across your files, email and the web — and returns finished deliverables</a:t>
            </a:r>
          </a:p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700" b="0" i="0">
                <a:solidFill>
                  <a:srgbClr val="363635"/>
                </a:solidFill>
                <a:latin typeface="Avenir Next LT Pro Light"/>
              </a:rPr>
              <a:t>Kick it off, let it run, and review the results when it's done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00200"/>
            <a:ext cx="5257800" cy="4434840"/>
          </a:xfrm>
          <a:prstGeom prst="roundRect">
            <a:avLst>
              <a:gd name="adj" fmla="val 4000"/>
            </a:avLst>
          </a:prstGeom>
          <a:solidFill>
            <a:srgbClr val="F4EEFE"/>
          </a:solidFill>
          <a:ln w="22225">
            <a:solidFill>
              <a:srgbClr val="810FF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 marL="0" indent="0">
              <a:spcAft>
                <a:spcPts val="600"/>
              </a:spcAft>
              <a:buNone/>
            </a:pPr>
            <a:r>
              <a:rPr sz="1300" b="1" i="0">
                <a:solidFill>
                  <a:srgbClr val="810FFB"/>
                </a:solidFill>
                <a:latin typeface="Avenir Next LT Pro Demi"/>
              </a:rPr>
              <a:t>▢  SCREENSHOT</a:t>
            </a:r>
          </a:p>
          <a:p>
            <a:pPr algn="ctr" marL="0" indent="0">
              <a:spcAft>
                <a:spcPts val="600"/>
              </a:spcAft>
              <a:buNone/>
            </a:pPr>
            <a:r>
              <a:rPr sz="1200" b="0" i="1">
                <a:solidFill>
                  <a:srgbClr val="363635"/>
                </a:solidFill>
                <a:latin typeface="Avenir Next LT Pro Light"/>
              </a:rPr>
              <a:t>A Cowork activity running a long, multi-step task and producing a finished 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6B6B6B"/>
                </a:solidFill>
                <a:latin typeface="Avenir Next LT Pro Light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2800" b="1" i="0">
                <a:solidFill>
                  <a:srgbClr val="363635"/>
                </a:solidFill>
                <a:latin typeface="Avenir Next LT Pro Demi"/>
              </a:rPr>
              <a:t>Skills — reusable blocks of instructions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71600"/>
            <a:ext cx="2011680" cy="54864"/>
          </a:xfrm>
          <a:prstGeom prst="rect">
            <a:avLst/>
          </a:prstGeom>
          <a:solidFill>
            <a:srgbClr val="810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5074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700" b="0" i="0">
                <a:solidFill>
                  <a:srgbClr val="363635"/>
                </a:solidFill>
                <a:latin typeface="Avenir Next LT Pro Light"/>
              </a:rPr>
              <a:t>A skill is a saved recipe Copilot follows the same way every time</a:t>
            </a:r>
          </a:p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700" b="0" i="0">
                <a:solidFill>
                  <a:srgbClr val="363635"/>
                </a:solidFill>
                <a:latin typeface="Avenir Next LT Pro Light"/>
              </a:rPr>
              <a:t>Examples: apply our branding, build a deck in our template, review copy for brand voice</a:t>
            </a:r>
          </a:p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700" b="0" i="0">
                <a:solidFill>
                  <a:srgbClr val="363635"/>
                </a:solidFill>
                <a:latin typeface="Avenir Next LT Pro Light"/>
              </a:rPr>
              <a:t>Define once, reuse forever — consistency and big time savings for the team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00200"/>
            <a:ext cx="5257800" cy="4434840"/>
          </a:xfrm>
          <a:prstGeom prst="roundRect">
            <a:avLst>
              <a:gd name="adj" fmla="val 4000"/>
            </a:avLst>
          </a:prstGeom>
          <a:solidFill>
            <a:srgbClr val="F4EEFE"/>
          </a:solidFill>
          <a:ln w="22225">
            <a:solidFill>
              <a:srgbClr val="810FF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 marL="0" indent="0">
              <a:spcAft>
                <a:spcPts val="600"/>
              </a:spcAft>
              <a:buNone/>
            </a:pPr>
            <a:r>
              <a:rPr sz="1300" b="1" i="0">
                <a:solidFill>
                  <a:srgbClr val="810FFB"/>
                </a:solidFill>
                <a:latin typeface="Avenir Next LT Pro Demi"/>
              </a:rPr>
              <a:t>▢  SCREENSHOT</a:t>
            </a:r>
          </a:p>
          <a:p>
            <a:pPr algn="ctr" marL="0" indent="0">
              <a:spcAft>
                <a:spcPts val="600"/>
              </a:spcAft>
              <a:buNone/>
            </a:pPr>
            <a:r>
              <a:rPr sz="1200" b="0" i="1">
                <a:solidFill>
                  <a:srgbClr val="363635"/>
                </a:solidFill>
                <a:latin typeface="Avenir Next LT Pro Light"/>
              </a:rPr>
              <a:t>Invoking a saved skill — e.g. 'build a branded deck' — inside Cowork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6B6B6B"/>
                </a:solidFill>
                <a:latin typeface="Avenir Next LT Pro Light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2800" b="1" i="0">
                <a:solidFill>
                  <a:srgbClr val="363635"/>
                </a:solidFill>
                <a:latin typeface="Avenir Next LT Pro Demi"/>
              </a:rPr>
              <a:t>Recap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71600"/>
            <a:ext cx="2011680" cy="54864"/>
          </a:xfrm>
          <a:prstGeom prst="rect">
            <a:avLst/>
          </a:prstGeom>
          <a:solidFill>
            <a:srgbClr val="810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10835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800" b="0" i="0">
                <a:solidFill>
                  <a:srgbClr val="363635"/>
                </a:solidFill>
                <a:latin typeface="Avenir Next LT Pro Light"/>
              </a:rPr>
              <a:t>Generative AI is a powerful first-draft partner — verify, and keep data in approved tools</a:t>
            </a:r>
          </a:p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800" b="0" i="0">
                <a:solidFill>
                  <a:srgbClr val="363635"/>
                </a:solidFill>
                <a:latin typeface="Avenir Next LT Pro Light"/>
              </a:rPr>
              <a:t>The Copilot app is home base: chat, prompt well, mind Work vs. Web, use Pages &amp; export</a:t>
            </a:r>
          </a:p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800" b="0" i="0">
                <a:solidFill>
                  <a:srgbClr val="363635"/>
                </a:solidFill>
                <a:latin typeface="Avenir Next LT Pro Light"/>
              </a:rPr>
              <a:t>Lean on Researcher &amp; Analyst for deep research and data work</a:t>
            </a:r>
          </a:p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800" b="0" i="0">
                <a:solidFill>
                  <a:srgbClr val="363635"/>
                </a:solidFill>
                <a:latin typeface="Avenir Next LT Pro Light"/>
              </a:rPr>
              <a:t>Build agents on your own content; save skills you reuse</a:t>
            </a:r>
          </a:p>
          <a:p>
            <a:pPr marL="0" indent="0">
              <a:spcBef>
                <a:spcPts val="1200"/>
              </a:spcBef>
              <a:spcAft>
                <a:spcPts val="800"/>
              </a:spcAft>
              <a:buNone/>
            </a:pPr>
            <a:r>
              <a:rPr sz="1800" b="1" i="0">
                <a:solidFill>
                  <a:srgbClr val="810FFB"/>
                </a:solidFill>
                <a:latin typeface="Avenir Next LT Pro Demi"/>
              </a:rPr>
              <a:t>Start today: ask “Summarize what I missed this week”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6B6B6B"/>
                </a:solidFill>
                <a:latin typeface="Avenir Next LT Pro Light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2800" b="1" i="0">
                <a:solidFill>
                  <a:srgbClr val="363635"/>
                </a:solidFill>
                <a:latin typeface="Avenir Next LT Pro Demi"/>
              </a:rPr>
              <a:t>Keep learning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71600"/>
            <a:ext cx="2011680" cy="54864"/>
          </a:xfrm>
          <a:prstGeom prst="rect">
            <a:avLst/>
          </a:prstGeom>
          <a:solidFill>
            <a:srgbClr val="810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10835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800" b="0" i="0">
                <a:solidFill>
                  <a:srgbClr val="363635"/>
                </a:solidFill>
                <a:latin typeface="Avenir Next LT Pro Light"/>
              </a:rPr>
              <a:t>Microsoft 365 Copilot adoption hub — adoption.microsoft.com</a:t>
            </a:r>
          </a:p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800" b="0" i="0">
                <a:solidFill>
                  <a:srgbClr val="363635"/>
                </a:solidFill>
                <a:latin typeface="Avenir Next LT Pro Light"/>
              </a:rPr>
              <a:t>Copilot learning paths — Microsoft Learn</a:t>
            </a:r>
          </a:p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800" b="0" i="0">
                <a:solidFill>
                  <a:srgbClr val="363635"/>
                </a:solidFill>
                <a:latin typeface="Avenir Next LT Pro Light"/>
              </a:rPr>
              <a:t>Prompt ideas — the Copilot Prompt Gallery</a:t>
            </a:r>
          </a:p>
          <a:p>
            <a:pPr marL="228600" indent="-228600">
              <a:spcAft>
                <a:spcPts val="800"/>
              </a:spcAft>
              <a:buClr>
                <a:srgbClr val="810FFB"/>
              </a:buClr>
              <a:buFont typeface="Arial"/>
              <a:buChar char="•"/>
            </a:pPr>
            <a:r>
              <a:rPr sz="1800" b="0" i="0">
                <a:solidFill>
                  <a:srgbClr val="363635"/>
                </a:solidFill>
                <a:latin typeface="Avenir Next LT Pro Light"/>
              </a:rPr>
              <a:t>And your team is here to help you go further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6B6B6B"/>
                </a:solidFill>
                <a:latin typeface="Avenir Next LT Pro Light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2697480"/>
            <a:ext cx="164592" cy="1325880"/>
          </a:xfrm>
          <a:prstGeom prst="rect">
            <a:avLst/>
          </a:prstGeom>
          <a:solidFill>
            <a:srgbClr val="810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606040"/>
            <a:ext cx="9692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5400" b="1" i="0">
                <a:solidFill>
                  <a:srgbClr val="363635"/>
                </a:solidFill>
                <a:latin typeface="Avenir Next LT Pro Dem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4114800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1800" b="0" i="0">
                <a:solidFill>
                  <a:srgbClr val="6B6B6B"/>
                </a:solidFill>
                <a:latin typeface="Avenir Next LT Pro Light"/>
              </a:rPr>
              <a:t>Questions?  ·  Chris McNulty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